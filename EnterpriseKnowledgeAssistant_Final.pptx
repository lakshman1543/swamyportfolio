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14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4" Type="http://schemas.openxmlformats.org/officeDocument/2006/relationships/slide" Target="slides/slide8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1 reveals the real folder tree. Each following click reveals one row on the right, tying that folder to its exact role in the RAG pipeline - present it the way the reference video scrolls through its project-structure post, one component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ASSISTANT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A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Documents to </a:t>
            </a:r>
            <a:pPr algn="l" indent="0" marL="0">
              <a:buNone/>
            </a:pPr>
            <a:r>
              <a:rPr lang="en-US" sz="3800" b="1" dirty="0">
                <a:solidFill>
                  <a:srgbClr val="6EE7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Trusted Answers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66928" y="15361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enterprises need an intelligent retrieval + generation layer over their own documents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20848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2395728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/home/claude/build/assets/icon_documents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156" y="2542032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2648" y="2999232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3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93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3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930" dirty="0"/>
          </a:p>
        </p:txBody>
      </p:sp>
      <p:sp>
        <p:nvSpPr>
          <p:cNvPr id="9" name="Shape 6"/>
          <p:cNvSpPr/>
          <p:nvPr/>
        </p:nvSpPr>
        <p:spPr>
          <a:xfrm>
            <a:off x="2404872" y="2921508"/>
            <a:ext cx="518922" cy="0"/>
          </a:xfrm>
          <a:prstGeom prst="line">
            <a:avLst/>
          </a:prstGeom>
          <a:noFill/>
          <a:ln w="15875">
            <a:solidFill>
              <a:srgbClr val="6B7488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978658" y="2395728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1" name="Image 1" descr="/home/claude/build/assets/icon_layers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886" y="2542032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24378" y="2999232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3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93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3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</a:t>
            </a:r>
            <a:endParaRPr lang="en-US" sz="930" dirty="0"/>
          </a:p>
        </p:txBody>
      </p:sp>
      <p:sp>
        <p:nvSpPr>
          <p:cNvPr id="13" name="Shape 9"/>
          <p:cNvSpPr/>
          <p:nvPr/>
        </p:nvSpPr>
        <p:spPr>
          <a:xfrm>
            <a:off x="4816602" y="2921508"/>
            <a:ext cx="518922" cy="0"/>
          </a:xfrm>
          <a:prstGeom prst="line">
            <a:avLst/>
          </a:prstGeom>
          <a:noFill/>
          <a:ln w="15875">
            <a:solidFill>
              <a:srgbClr val="6B7488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390388" y="2395728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2" descr="/home/claude/build/assets/icon_search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616" y="2542032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36108" y="2999232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3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3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3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</a:t>
            </a:r>
            <a:endParaRPr lang="en-US" sz="930" dirty="0"/>
          </a:p>
        </p:txBody>
      </p:sp>
      <p:sp>
        <p:nvSpPr>
          <p:cNvPr id="17" name="Shape 12"/>
          <p:cNvSpPr/>
          <p:nvPr/>
        </p:nvSpPr>
        <p:spPr>
          <a:xfrm>
            <a:off x="7228332" y="2921508"/>
            <a:ext cx="518922" cy="0"/>
          </a:xfrm>
          <a:prstGeom prst="line">
            <a:avLst/>
          </a:prstGeom>
          <a:noFill/>
          <a:ln w="15875">
            <a:solidFill>
              <a:srgbClr val="6B7488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7802118" y="2395728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9" name="Image 3" descr="/home/claude/build/assets/icon_clock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3346" y="2542032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847838" y="2999232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3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93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3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930" dirty="0"/>
          </a:p>
        </p:txBody>
      </p:sp>
      <p:sp>
        <p:nvSpPr>
          <p:cNvPr id="21" name="Shape 15"/>
          <p:cNvSpPr/>
          <p:nvPr/>
        </p:nvSpPr>
        <p:spPr>
          <a:xfrm>
            <a:off x="9640062" y="2921508"/>
            <a:ext cx="518922" cy="0"/>
          </a:xfrm>
          <a:prstGeom prst="line">
            <a:avLst/>
          </a:prstGeom>
          <a:noFill/>
          <a:ln w="15875">
            <a:solidFill>
              <a:srgbClr val="6B7488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10213848" y="2395728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3" name="Image 4" descr="/home/claude/build/assets/icon_alert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5076" y="2542032"/>
            <a:ext cx="420624" cy="42062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259568" y="2999232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3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</a:t>
            </a:r>
            <a:endParaRPr lang="en-US" sz="93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3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Assistant</a:t>
            </a:r>
            <a:endParaRPr lang="en-US" sz="930" dirty="0"/>
          </a:p>
        </p:txBody>
      </p:sp>
      <p:sp>
        <p:nvSpPr>
          <p:cNvPr id="25" name="Shape 18"/>
          <p:cNvSpPr/>
          <p:nvPr/>
        </p:nvSpPr>
        <p:spPr>
          <a:xfrm>
            <a:off x="566928" y="3794760"/>
            <a:ext cx="11430000" cy="566928"/>
          </a:xfrm>
          <a:prstGeom prst="roundRect">
            <a:avLst>
              <a:gd name="adj" fmla="val 19355"/>
            </a:avLst>
          </a:prstGeom>
          <a:solidFill>
            <a:srgbClr val="2A235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66928" y="3794760"/>
            <a:ext cx="11430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  </a:t>
            </a:r>
            <a:pPr algn="ctr" indent="0" marL="0">
              <a:buNone/>
            </a:pPr>
            <a:r>
              <a:rPr lang="en-US" sz="14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RAG-Based Enterprise Knowledge Assistant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566928" y="46451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DELIVERS VALUE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566928" y="495604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12700">
            <a:solidFill>
              <a:srgbClr val="2E3A52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66928" y="495604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2340864" y="5239512"/>
            <a:ext cx="128016" cy="0"/>
          </a:xfrm>
          <a:prstGeom prst="line">
            <a:avLst/>
          </a:prstGeom>
          <a:noFill/>
          <a:ln w="15875">
            <a:solidFill>
              <a:srgbClr val="6B7488"/>
            </a:solidFill>
            <a:prstDash val="solid"/>
            <a:tailEnd type="triangle"/>
          </a:ln>
        </p:spPr>
      </p:sp>
      <p:sp>
        <p:nvSpPr>
          <p:cNvPr id="31" name="Shape 24"/>
          <p:cNvSpPr/>
          <p:nvPr/>
        </p:nvSpPr>
        <p:spPr>
          <a:xfrm>
            <a:off x="2505456" y="495604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12700">
            <a:solidFill>
              <a:srgbClr val="2E3A52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2505456" y="495604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4279392" y="5239512"/>
            <a:ext cx="128016" cy="0"/>
          </a:xfrm>
          <a:prstGeom prst="line">
            <a:avLst/>
          </a:prstGeom>
          <a:noFill/>
          <a:ln w="15875">
            <a:solidFill>
              <a:srgbClr val="6B7488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4443984" y="495604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12700">
            <a:solidFill>
              <a:srgbClr val="2E3A52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4443984" y="495604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6217920" y="5239512"/>
            <a:ext cx="128016" cy="0"/>
          </a:xfrm>
          <a:prstGeom prst="line">
            <a:avLst/>
          </a:prstGeom>
          <a:noFill/>
          <a:ln w="15875">
            <a:solidFill>
              <a:srgbClr val="6B7488"/>
            </a:solidFill>
            <a:prstDash val="solid"/>
            <a:tailEnd type="triangle"/>
          </a:ln>
        </p:spPr>
      </p:sp>
      <p:sp>
        <p:nvSpPr>
          <p:cNvPr id="37" name="Shape 30"/>
          <p:cNvSpPr/>
          <p:nvPr/>
        </p:nvSpPr>
        <p:spPr>
          <a:xfrm>
            <a:off x="6382512" y="495604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12700">
            <a:solidFill>
              <a:srgbClr val="2E3A52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6382512" y="495604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8156448" y="5239512"/>
            <a:ext cx="128016" cy="0"/>
          </a:xfrm>
          <a:prstGeom prst="line">
            <a:avLst/>
          </a:prstGeom>
          <a:noFill/>
          <a:ln w="15875">
            <a:solidFill>
              <a:srgbClr val="6B7488"/>
            </a:solidFill>
            <a:prstDash val="solid"/>
            <a:tailEnd type="triangle"/>
          </a:ln>
        </p:spPr>
      </p:sp>
      <p:sp>
        <p:nvSpPr>
          <p:cNvPr id="40" name="Shape 33"/>
          <p:cNvSpPr/>
          <p:nvPr/>
        </p:nvSpPr>
        <p:spPr>
          <a:xfrm>
            <a:off x="8321040" y="495604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12700">
            <a:solidFill>
              <a:srgbClr val="2E3A52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8321040" y="495604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10094976" y="5239512"/>
            <a:ext cx="128016" cy="0"/>
          </a:xfrm>
          <a:prstGeom prst="line">
            <a:avLst/>
          </a:prstGeom>
          <a:noFill/>
          <a:ln w="15875">
            <a:solidFill>
              <a:srgbClr val="6B7488"/>
            </a:solidFill>
            <a:prstDash val="solid"/>
            <a:tailEnd type="triangle"/>
          </a:ln>
        </p:spPr>
      </p:sp>
      <p:sp>
        <p:nvSpPr>
          <p:cNvPr id="43" name="Shape 36"/>
          <p:cNvSpPr/>
          <p:nvPr/>
        </p:nvSpPr>
        <p:spPr>
          <a:xfrm>
            <a:off x="10259568" y="495604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10259568" y="495604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&amp; Ground</a:t>
            </a:r>
            <a:endParaRPr lang="en-US" sz="1100" dirty="0"/>
          </a:p>
        </p:txBody>
      </p:sp>
      <p:sp>
        <p:nvSpPr>
          <p:cNvPr id="45" name="Text 38"/>
          <p:cNvSpPr/>
          <p:nvPr/>
        </p:nvSpPr>
        <p:spPr>
          <a:xfrm>
            <a:off x="566928" y="5989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</a:t>
            </a:r>
            <a:pPr indent="0" marL="0">
              <a:buNone/>
            </a:pPr>
            <a:r>
              <a:rPr lang="en-US" sz="9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stages, ingestion to grounded answer</a:t>
            </a:r>
            <a:endParaRPr lang="en-US" sz="1900" dirty="0"/>
          </a:p>
        </p:txBody>
      </p:sp>
      <p:sp>
        <p:nvSpPr>
          <p:cNvPr id="46" name="Text 39"/>
          <p:cNvSpPr/>
          <p:nvPr/>
        </p:nvSpPr>
        <p:spPr>
          <a:xfrm>
            <a:off x="4498848" y="5989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2-stage  </a:t>
            </a:r>
            <a:pPr indent="0" marL="0">
              <a:buNone/>
            </a:pPr>
            <a:r>
              <a:rPr lang="en-US" sz="9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- hybrid fusion, then cross-encoder rerank</a:t>
            </a:r>
            <a:endParaRPr lang="en-US" sz="1900" dirty="0"/>
          </a:p>
        </p:txBody>
      </p:sp>
      <p:sp>
        <p:nvSpPr>
          <p:cNvPr id="47" name="Text 40"/>
          <p:cNvSpPr/>
          <p:nvPr/>
        </p:nvSpPr>
        <p:spPr>
          <a:xfrm>
            <a:off x="8430768" y="5989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 </a:t>
            </a:r>
            <a:pPr indent="0" marL="0">
              <a:buNone/>
            </a:pPr>
            <a:r>
              <a:rPr lang="en-US" sz="9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- answers cite the source chunk, or decline</a:t>
            </a:r>
            <a:endParaRPr lang="en-US" sz="1900" dirty="0"/>
          </a:p>
        </p:txBody>
      </p:sp>
      <p:sp>
        <p:nvSpPr>
          <p:cNvPr id="48" name="Text 41"/>
          <p:cNvSpPr/>
          <p:nvPr/>
        </p:nvSpPr>
        <p:spPr>
          <a:xfrm>
            <a:off x="10820095" y="64739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08</a:t>
            </a:r>
            <a:endParaRPr lang="en-US" sz="900" dirty="0"/>
          </a:p>
        </p:txBody>
      </p:sp>
      <p:sp>
        <p:nvSpPr>
          <p:cNvPr id="900" name="FlowDot900"/>
          <p:cNvSpPr/>
          <p:nvPr/>
        </p:nvSpPr>
        <p:spPr>
          <a:xfrm>
            <a:off x="1412748" y="2875788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127000" dist="0" dir="0" rotWithShape="0">
              <a:srgbClr val="22D3EE">
                <a:alpha val="70000"/>
              </a:srgbClr>
            </a:outerShdw>
          </a:effectLst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901" name="FlowDot901"/>
          <p:cNvSpPr/>
          <p:nvPr/>
        </p:nvSpPr>
        <p:spPr>
          <a:xfrm>
            <a:off x="3824478" y="2875788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127000" dist="0" dir="0" rotWithShape="0">
              <a:srgbClr val="22D3EE">
                <a:alpha val="70000"/>
              </a:srgbClr>
            </a:outerShdw>
          </a:effectLst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902" name="FlowDot902"/>
          <p:cNvSpPr/>
          <p:nvPr/>
        </p:nvSpPr>
        <p:spPr>
          <a:xfrm>
            <a:off x="6236208" y="2875788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127000" dist="0" dir="0" rotWithShape="0">
              <a:srgbClr val="22D3EE">
                <a:alpha val="70000"/>
              </a:srgbClr>
            </a:outerShdw>
          </a:effectLst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903" name="FlowDot903"/>
          <p:cNvSpPr/>
          <p:nvPr/>
        </p:nvSpPr>
        <p:spPr>
          <a:xfrm>
            <a:off x="8647938" y="2875788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127000" dist="0" dir="0" rotWithShape="0">
              <a:srgbClr val="22D3EE">
                <a:alpha val="70000"/>
              </a:srgbClr>
            </a:outerShdw>
          </a:effectLst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904" name="FlowDot904"/>
          <p:cNvSpPr/>
          <p:nvPr/>
        </p:nvSpPr>
        <p:spPr>
          <a:xfrm>
            <a:off x="1399032" y="5202936"/>
            <a:ext cx="73152" cy="73152"/>
          </a:xfrm>
          <a:prstGeom prst="ellipse">
            <a:avLst/>
          </a:prstGeom>
          <a:solidFill>
            <a:srgbClr val="F472B6"/>
          </a:solidFill>
          <a:ln>
            <a:noFill/>
          </a:ln>
          <a:effectLst>
            <a:outerShdw blurRad="127000" dist="0" dir="0" rotWithShape="0">
              <a:srgbClr val="F472B6">
                <a:alpha val="70000"/>
              </a:srgbClr>
            </a:outerShdw>
          </a:effectLst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905" name="FlowDot905"/>
          <p:cNvSpPr/>
          <p:nvPr/>
        </p:nvSpPr>
        <p:spPr>
          <a:xfrm>
            <a:off x="3337560" y="5202936"/>
            <a:ext cx="73152" cy="73152"/>
          </a:xfrm>
          <a:prstGeom prst="ellipse">
            <a:avLst/>
          </a:prstGeom>
          <a:solidFill>
            <a:srgbClr val="F472B6"/>
          </a:solidFill>
          <a:ln>
            <a:noFill/>
          </a:ln>
          <a:effectLst>
            <a:outerShdw blurRad="127000" dist="0" dir="0" rotWithShape="0">
              <a:srgbClr val="F472B6">
                <a:alpha val="70000"/>
              </a:srgbClr>
            </a:outerShdw>
          </a:effectLst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906" name="FlowDot906"/>
          <p:cNvSpPr/>
          <p:nvPr/>
        </p:nvSpPr>
        <p:spPr>
          <a:xfrm>
            <a:off x="5276088" y="5202936"/>
            <a:ext cx="73152" cy="73152"/>
          </a:xfrm>
          <a:prstGeom prst="ellipse">
            <a:avLst/>
          </a:prstGeom>
          <a:solidFill>
            <a:srgbClr val="F472B6"/>
          </a:solidFill>
          <a:ln>
            <a:noFill/>
          </a:ln>
          <a:effectLst>
            <a:outerShdw blurRad="127000" dist="0" dir="0" rotWithShape="0">
              <a:srgbClr val="F472B6">
                <a:alpha val="70000"/>
              </a:srgbClr>
            </a:outerShdw>
          </a:effectLst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907" name="FlowDot907"/>
          <p:cNvSpPr/>
          <p:nvPr/>
        </p:nvSpPr>
        <p:spPr>
          <a:xfrm>
            <a:off x="7214616" y="5202936"/>
            <a:ext cx="73152" cy="73152"/>
          </a:xfrm>
          <a:prstGeom prst="ellipse">
            <a:avLst/>
          </a:prstGeom>
          <a:solidFill>
            <a:srgbClr val="F472B6"/>
          </a:solidFill>
          <a:ln>
            <a:noFill/>
          </a:ln>
          <a:effectLst>
            <a:outerShdw blurRad="127000" dist="0" dir="0" rotWithShape="0">
              <a:srgbClr val="F472B6">
                <a:alpha val="70000"/>
              </a:srgbClr>
            </a:outerShdw>
          </a:effectLst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908" name="FlowDot908"/>
          <p:cNvSpPr/>
          <p:nvPr/>
        </p:nvSpPr>
        <p:spPr>
          <a:xfrm>
            <a:off x="9153144" y="5202936"/>
            <a:ext cx="73152" cy="73152"/>
          </a:xfrm>
          <a:prstGeom prst="ellipse">
            <a:avLst/>
          </a:prstGeom>
          <a:solidFill>
            <a:srgbClr val="F472B6"/>
          </a:solidFill>
          <a:ln>
            <a:noFill/>
          </a:ln>
          <a:effectLst>
            <a:outerShdw blurRad="127000" dist="0" dir="0" rotWithShape="0">
              <a:srgbClr val="F472B6">
                <a:alpha val="70000"/>
              </a:srgbClr>
            </a:outerShdw>
          </a:effectLst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</p:spTree>
  </p:cSld>
  <p:clrMapOvr>
    <a:masterClrMapping/>
  </p:clrMapOvr>
  <p:timing>
    <p:tnLst>
      <p:par>
        <p:cTn id="5211" dur="indefinite" restart="never" nodeType="tmRoot">
          <p:childTnLst>
            <p:seq concat="0" nextAc="seek">
              <p:cTn id="5212" dur="indefinite" nodeType="mainSeq">
                <p:childTnLst>
                  <p:par>
                    <p:cTn id="5001" nodeType="clickEffect">
                      <p:stCondLst>
                        <p:cond delay="0"/>
                      </p:stCondLst>
                      <p:childTnLst>
                        <p:par>
                          <p:cTn id="500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04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0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07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0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10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11" nodeType="afterEffect">
                      <p:stCondLst>
                        <p:cond delay="80"/>
                      </p:stCondLst>
                      <p:childTnLst>
                        <p:par>
                          <p:cTn id="50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14" dur="2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15" presetID="10" presetClass="entr" presetSubtype="0" fill="hold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id="50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0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17" dur="150"/>
                            <p:tgtEl>
                              <p:spTgt spid="900"/>
                            </p:tgtEl>
                          </p:cBhvr>
                        </p:animEffect>
                      </p:childTnLst>
                    </p:cTn>
                  </p:par>
                  <p:par>
                    <p:cTn id="5018" presetID="0" presetClass="path" presetSubtype="0" fill="hold" nodeType="afterEffect">
                      <p:stCondLst>
                        <p:cond delay="0"/>
                      </p:stCondLst>
                      <p:childTnLst>
                        <p:animMotion origin="layout" path="M 0 0 L 0.19781 0.00000 E" pathEditMode="relative" rAng="0" ptsTypes="">
                          <p:cBhvr>
                            <p:cTn id="5019" dur="550" fill="hold"/>
                            <p:tgtEl>
                              <p:spTgt spid="900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5020" presetID="10" presetClass="exit" presetSubtype="0" fill="hold" nodeType="after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id="5021" dur="200" fill="hold"/>
                            <p:tgtEl>
                              <p:spTgt spid="900"/>
                            </p:tgtEl>
                          </p:cBhvr>
                        </p:animEffect>
                        <p:set>
                          <p:cBhvr>
                            <p:cTn id="5022" dur="1" fill="hold">
                              <p:stCondLst>
                                <p:cond delay="200"/>
                              </p:stCondLst>
                            </p:cTn>
                            <p:tgtEl>
                              <p:spTgt spid="90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5023" nodeType="afterEffect">
                      <p:stCondLst>
                        <p:cond delay="150"/>
                      </p:stCondLst>
                      <p:childTnLst>
                        <p:par>
                          <p:cTn id="502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26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2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29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3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32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33" nodeType="afterEffect">
                      <p:stCondLst>
                        <p:cond delay="80"/>
                      </p:stCondLst>
                      <p:childTnLst>
                        <p:par>
                          <p:cTn id="503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36" dur="2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37" presetID="10" presetClass="entr" presetSubtype="0" fill="hold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id="503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0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39" dur="150"/>
                            <p:tgtEl>
                              <p:spTgt spid="901"/>
                            </p:tgtEl>
                          </p:cBhvr>
                        </p:animEffect>
                      </p:childTnLst>
                    </p:cTn>
                  </p:par>
                  <p:par>
                    <p:cTn id="5040" presetID="0" presetClass="path" presetSubtype="0" fill="hold" nodeType="afterEffect">
                      <p:stCondLst>
                        <p:cond delay="0"/>
                      </p:stCondLst>
                      <p:childTnLst>
                        <p:animMotion origin="layout" path="M 0 0 L 0.19781 0.00000 E" pathEditMode="relative" rAng="0" ptsTypes="">
                          <p:cBhvr>
                            <p:cTn id="5041" dur="550" fill="hold"/>
                            <p:tgtEl>
                              <p:spTgt spid="901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5042" presetID="10" presetClass="exit" presetSubtype="0" fill="hold" nodeType="after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id="5043" dur="200" fill="hold"/>
                            <p:tgtEl>
                              <p:spTgt spid="901"/>
                            </p:tgtEl>
                          </p:cBhvr>
                        </p:animEffect>
                        <p:set>
                          <p:cBhvr>
                            <p:cTn id="5044" dur="1" fill="hold">
                              <p:stCondLst>
                                <p:cond delay="200"/>
                              </p:stCondLst>
                            </p:cTn>
                            <p:tgtEl>
                              <p:spTgt spid="90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5045" nodeType="afterEffect">
                      <p:stCondLst>
                        <p:cond delay="150"/>
                      </p:stCondLst>
                      <p:childTnLst>
                        <p:par>
                          <p:cTn id="504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48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4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5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5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54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55" nodeType="afterEffect">
                      <p:stCondLst>
                        <p:cond delay="80"/>
                      </p:stCondLst>
                      <p:childTnLst>
                        <p:par>
                          <p:cTn id="505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58" dur="2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59" presetID="10" presetClass="entr" presetSubtype="0" fill="hold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id="506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61" dur="150"/>
                            <p:tgtEl>
                              <p:spTgt spid="902"/>
                            </p:tgtEl>
                          </p:cBhvr>
                        </p:animEffect>
                      </p:childTnLst>
                    </p:cTn>
                  </p:par>
                  <p:par>
                    <p:cTn id="5062" presetID="0" presetClass="path" presetSubtype="0" fill="hold" nodeType="afterEffect">
                      <p:stCondLst>
                        <p:cond delay="0"/>
                      </p:stCondLst>
                      <p:childTnLst>
                        <p:animMotion origin="layout" path="M 0 0 L 0.19781 0.00000 E" pathEditMode="relative" rAng="0" ptsTypes="">
                          <p:cBhvr>
                            <p:cTn id="5063" dur="550" fill="hold"/>
                            <p:tgtEl>
                              <p:spTgt spid="902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5064" presetID="10" presetClass="exit" presetSubtype="0" fill="hold" nodeType="after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id="5065" dur="200" fill="hold"/>
                            <p:tgtEl>
                              <p:spTgt spid="902"/>
                            </p:tgtEl>
                          </p:cBhvr>
                        </p:animEffect>
                        <p:set>
                          <p:cBhvr>
                            <p:cTn id="5066" dur="1" fill="hold">
                              <p:stCondLst>
                                <p:cond delay="200"/>
                              </p:stCondLst>
                            </p:cTn>
                            <p:tgtEl>
                              <p:spTgt spid="90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5067" nodeType="afterEffect">
                      <p:stCondLst>
                        <p:cond delay="150"/>
                      </p:stCondLst>
                      <p:childTnLst>
                        <p:par>
                          <p:cTn id="506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70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7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73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7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76" dur="45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77" nodeType="afterEffect">
                      <p:stCondLst>
                        <p:cond delay="80"/>
                      </p:stCondLst>
                      <p:childTnLst>
                        <p:par>
                          <p:cTn id="507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80" dur="2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81" presetID="10" presetClass="entr" presetSubtype="0" fill="hold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id="508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83" dur="150"/>
                            <p:tgtEl>
                              <p:spTgt spid="903"/>
                            </p:tgtEl>
                          </p:cBhvr>
                        </p:animEffect>
                      </p:childTnLst>
                    </p:cTn>
                  </p:par>
                  <p:par>
                    <p:cTn id="5084" presetID="0" presetClass="path" presetSubtype="0" fill="hold" nodeType="afterEffect">
                      <p:stCondLst>
                        <p:cond delay="0"/>
                      </p:stCondLst>
                      <p:childTnLst>
                        <p:animMotion origin="layout" path="M 0 0 L 0.19781 0.00000 E" pathEditMode="relative" rAng="0" ptsTypes="">
                          <p:cBhvr>
                            <p:cTn id="5085" dur="550" fill="hold"/>
                            <p:tgtEl>
                              <p:spTgt spid="903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5086" presetID="10" presetClass="exit" presetSubtype="0" fill="hold" nodeType="after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id="5087" dur="200" fill="hold"/>
                            <p:tgtEl>
                              <p:spTgt spid="903"/>
                            </p:tgtEl>
                          </p:cBhvr>
                        </p:animEffect>
                        <p:set>
                          <p:cBhvr>
                            <p:cTn id="5088" dur="1" fill="hold">
                              <p:stCondLst>
                                <p:cond delay="200"/>
                              </p:stCondLst>
                            </p:cTn>
                            <p:tgtEl>
                              <p:spTgt spid="90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5089" nodeType="afterEffect">
                      <p:stCondLst>
                        <p:cond delay="150"/>
                      </p:stCondLst>
                      <p:childTnLst>
                        <p:par>
                          <p:cTn id="509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92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9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95" dur="45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9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9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98" dur="45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99" nodeType="afterEffect">
                      <p:stCondLst>
                        <p:cond delay="120"/>
                      </p:stCondLst>
                      <p:childTnLst>
                        <p:par>
                          <p:cTn id="510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02" dur="4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0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05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06" nodeType="afterEffect">
                      <p:stCondLst>
                        <p:cond delay="60"/>
                      </p:stCondLst>
                      <p:childTnLst>
                        <p:par>
                          <p:cTn id="510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0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09" dur="2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10" presetID="10" presetClass="entr" presetSubtype="0" fill="hold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id="51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112" dur="120"/>
                            <p:tgtEl>
                              <p:spTgt spid="904"/>
                            </p:tgtEl>
                          </p:cBhvr>
                        </p:animEffect>
                      </p:childTnLst>
                    </p:cTn>
                  </p:par>
                  <p:par>
                    <p:cTn id="5113" presetID="0" presetClass="path" presetSubtype="0" fill="hold" nodeType="afterEffect">
                      <p:stCondLst>
                        <p:cond delay="0"/>
                      </p:stCondLst>
                      <p:childTnLst>
                        <p:animMotion origin="layout" path="M 0 0 L 0.15900 0.00000 E" pathEditMode="relative" rAng="0" ptsTypes="">
                          <p:cBhvr>
                            <p:cTn id="5114" dur="450" fill="hold"/>
                            <p:tgtEl>
                              <p:spTgt spid="904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5115" presetID="10" presetClass="exit" presetSubtype="0" fill="hold" nodeType="after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id="5116" dur="150" fill="hold"/>
                            <p:tgtEl>
                              <p:spTgt spid="904"/>
                            </p:tgtEl>
                          </p:cBhvr>
                        </p:animEffect>
                        <p:set>
                          <p:cBhvr>
                            <p:cTn id="5117" dur="1" fill="hold">
                              <p:stCondLst>
                                <p:cond delay="150"/>
                              </p:stCondLst>
                            </p:cTn>
                            <p:tgtEl>
                              <p:spTgt spid="90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5118" nodeType="afterEffect">
                      <p:stCondLst>
                        <p:cond delay="100"/>
                      </p:stCondLst>
                      <p:childTnLst>
                        <p:par>
                          <p:cTn id="511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21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2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24" dur="4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25" nodeType="afterEffect">
                      <p:stCondLst>
                        <p:cond delay="60"/>
                      </p:stCondLst>
                      <p:childTnLst>
                        <p:par>
                          <p:cTn id="512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28" dur="2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29" presetID="10" presetClass="entr" presetSubtype="0" fill="hold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id="513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131" dur="120"/>
                            <p:tgtEl>
                              <p:spTgt spid="905"/>
                            </p:tgtEl>
                          </p:cBhvr>
                        </p:animEffect>
                      </p:childTnLst>
                    </p:cTn>
                  </p:par>
                  <p:par>
                    <p:cTn id="5132" presetID="0" presetClass="path" presetSubtype="0" fill="hold" nodeType="afterEffect">
                      <p:stCondLst>
                        <p:cond delay="0"/>
                      </p:stCondLst>
                      <p:childTnLst>
                        <p:animMotion origin="layout" path="M 0 0 L 0.15900 0.00000 E" pathEditMode="relative" rAng="0" ptsTypes="">
                          <p:cBhvr>
                            <p:cTn id="5133" dur="450" fill="hold"/>
                            <p:tgtEl>
                              <p:spTgt spid="905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5134" presetID="10" presetClass="exit" presetSubtype="0" fill="hold" nodeType="after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id="5135" dur="150" fill="hold"/>
                            <p:tgtEl>
                              <p:spTgt spid="905"/>
                            </p:tgtEl>
                          </p:cBhvr>
                        </p:animEffect>
                        <p:set>
                          <p:cBhvr>
                            <p:cTn id="5136" dur="1" fill="hold">
                              <p:stCondLst>
                                <p:cond delay="150"/>
                              </p:stCondLst>
                            </p:cTn>
                            <p:tgtEl>
                              <p:spTgt spid="90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5137" nodeType="afterEffect">
                      <p:stCondLst>
                        <p:cond delay="100"/>
                      </p:stCondLst>
                      <p:childTnLst>
                        <p:par>
                          <p:cTn id="513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40" dur="4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4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43" dur="4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44" nodeType="afterEffect">
                      <p:stCondLst>
                        <p:cond delay="60"/>
                      </p:stCondLst>
                      <p:childTnLst>
                        <p:par>
                          <p:cTn id="51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47" dur="2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48" presetID="10" presetClass="entr" presetSubtype="0" fill="hold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id="514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150" dur="120"/>
                            <p:tgtEl>
                              <p:spTgt spid="906"/>
                            </p:tgtEl>
                          </p:cBhvr>
                        </p:animEffect>
                      </p:childTnLst>
                    </p:cTn>
                  </p:par>
                  <p:par>
                    <p:cTn id="5151" presetID="0" presetClass="path" presetSubtype="0" fill="hold" nodeType="afterEffect">
                      <p:stCondLst>
                        <p:cond delay="0"/>
                      </p:stCondLst>
                      <p:childTnLst>
                        <p:animMotion origin="layout" path="M 0 0 L 0.15900 0.00000 E" pathEditMode="relative" rAng="0" ptsTypes="">
                          <p:cBhvr>
                            <p:cTn id="5152" dur="450" fill="hold"/>
                            <p:tgtEl>
                              <p:spTgt spid="906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5153" presetID="10" presetClass="exit" presetSubtype="0" fill="hold" nodeType="after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id="5154" dur="150" fill="hold"/>
                            <p:tgtEl>
                              <p:spTgt spid="906"/>
                            </p:tgtEl>
                          </p:cBhvr>
                        </p:animEffect>
                        <p:set>
                          <p:cBhvr>
                            <p:cTn id="5155" dur="1" fill="hold">
                              <p:stCondLst>
                                <p:cond delay="150"/>
                              </p:stCondLst>
                            </p:cTn>
                            <p:tgtEl>
                              <p:spTgt spid="90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5156" nodeType="afterEffect">
                      <p:stCondLst>
                        <p:cond delay="100"/>
                      </p:stCondLst>
                      <p:childTnLst>
                        <p:par>
                          <p:cTn id="515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59" dur="4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6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62" dur="4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63" nodeType="afterEffect">
                      <p:stCondLst>
                        <p:cond delay="60"/>
                      </p:stCondLst>
                      <p:childTnLst>
                        <p:par>
                          <p:cTn id="516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66" dur="2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67" presetID="10" presetClass="entr" presetSubtype="0" fill="hold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id="516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169" dur="120"/>
                            <p:tgtEl>
                              <p:spTgt spid="907"/>
                            </p:tgtEl>
                          </p:cBhvr>
                        </p:animEffect>
                      </p:childTnLst>
                    </p:cTn>
                  </p:par>
                  <p:par>
                    <p:cTn id="5170" presetID="0" presetClass="path" presetSubtype="0" fill="hold" nodeType="afterEffect">
                      <p:stCondLst>
                        <p:cond delay="0"/>
                      </p:stCondLst>
                      <p:childTnLst>
                        <p:animMotion origin="layout" path="M 0 0 L 0.15900 0.00000 E" pathEditMode="relative" rAng="0" ptsTypes="">
                          <p:cBhvr>
                            <p:cTn id="5171" dur="450" fill="hold"/>
                            <p:tgtEl>
                              <p:spTgt spid="907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5172" presetID="10" presetClass="exit" presetSubtype="0" fill="hold" nodeType="after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id="5173" dur="150" fill="hold"/>
                            <p:tgtEl>
                              <p:spTgt spid="907"/>
                            </p:tgtEl>
                          </p:cBhvr>
                        </p:animEffect>
                        <p:set>
                          <p:cBhvr>
                            <p:cTn id="5174" dur="1" fill="hold">
                              <p:stCondLst>
                                <p:cond delay="150"/>
                              </p:stCondLst>
                            </p:cTn>
                            <p:tgtEl>
                              <p:spTgt spid="90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5175" nodeType="afterEffect">
                      <p:stCondLst>
                        <p:cond delay="100"/>
                      </p:stCondLst>
                      <p:childTnLst>
                        <p:par>
                          <p:cTn id="517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78" dur="40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7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81" dur="400"/>
                                  <p:tgtEl>
                                    <p:spTgt spid="4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82" nodeType="afterEffect">
                      <p:stCondLst>
                        <p:cond delay="60"/>
                      </p:stCondLst>
                      <p:childTnLst>
                        <p:par>
                          <p:cTn id="518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8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85" dur="200"/>
                                  <p:tgtEl>
                                    <p:spTgt spid="4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86" presetID="10" presetClass="entr" presetSubtype="0" fill="hold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id="518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188" dur="120"/>
                            <p:tgtEl>
                              <p:spTgt spid="908"/>
                            </p:tgtEl>
                          </p:cBhvr>
                        </p:animEffect>
                      </p:childTnLst>
                    </p:cTn>
                  </p:par>
                  <p:par>
                    <p:cTn id="5189" presetID="0" presetClass="path" presetSubtype="0" fill="hold" nodeType="afterEffect">
                      <p:stCondLst>
                        <p:cond delay="0"/>
                      </p:stCondLst>
                      <p:childTnLst>
                        <p:animMotion origin="layout" path="M 0 0 L 0.15900 0.00000 E" pathEditMode="relative" rAng="0" ptsTypes="">
                          <p:cBhvr>
                            <p:cTn id="5190" dur="450" fill="hold"/>
                            <p:tgtEl>
                              <p:spTgt spid="908"/>
                            </p:tgtEl>
                            <p:attrNameLst>
                              <p:attrName>ppt_x</p:attrName>
                              <p:attrName>ppt_y</p:attrName>
                            </p:attrNameLst>
                          </p:cBhvr>
                        </p:animMotion>
                      </p:childTnLst>
                    </p:cTn>
                  </p:par>
                  <p:par>
                    <p:cTn id="5191" presetID="10" presetClass="exit" presetSubtype="0" fill="hold" nodeType="after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id="5192" dur="150" fill="hold"/>
                            <p:tgtEl>
                              <p:spTgt spid="908"/>
                            </p:tgtEl>
                          </p:cBhvr>
                        </p:animEffect>
                        <p:set>
                          <p:cBhvr>
                            <p:cTn id="5193" dur="1" fill="hold">
                              <p:stCondLst>
                                <p:cond delay="150"/>
                              </p:stCondLst>
                            </p:cTn>
                            <p:tgtEl>
                              <p:spTgt spid="90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  <p:par>
                    <p:cTn id="5194" nodeType="afterEffect">
                      <p:stCondLst>
                        <p:cond delay="100"/>
                      </p:stCondLst>
                      <p:childTnLst>
                        <p:par>
                          <p:cTn id="519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97" dur="4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9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9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00" dur="400"/>
                                  <p:tgtEl>
                                    <p:spTgt spid="4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201" nodeType="afterEffect">
                      <p:stCondLst>
                        <p:cond delay="200"/>
                      </p:stCondLst>
                      <p:childTnLst>
                        <p:par>
                          <p:cTn id="520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04" dur="400"/>
                                  <p:tgtEl>
                                    <p:spTgt spid="4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05" presetID="10" presetClass="entr" presetSubtype="0" fill="hold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52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07" dur="400"/>
                                  <p:tgtEl>
                                    <p:spTgt spid="4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08" presetID="10" presetClass="entr" presetSubtype="0" fill="hold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52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10" dur="4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A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 - Advanced RAG Architecture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2296" cy="219456"/>
          </a:xfrm>
          <a:prstGeom prst="roundRect">
            <a:avLst/>
          </a:prstGeom>
          <a:solidFill>
            <a:srgbClr val="A78BF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25272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- INGESTION PIPELINE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682496"/>
            <a:ext cx="2554148" cy="841248"/>
          </a:xfrm>
          <a:prstGeom prst="roundRect">
            <a:avLst>
              <a:gd name="adj" fmla="val 9783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/home/claude/build/assets/icon_documents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266" y="1792224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3504" y="2157984"/>
            <a:ext cx="24444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94360" y="2249424"/>
            <a:ext cx="2462708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DOCX · TXT · MD</a:t>
            </a:r>
            <a:endParaRPr lang="en-US" sz="670" dirty="0"/>
          </a:p>
        </p:txBody>
      </p:sp>
      <p:sp>
        <p:nvSpPr>
          <p:cNvPr id="10" name="Shape 7"/>
          <p:cNvSpPr/>
          <p:nvPr/>
        </p:nvSpPr>
        <p:spPr>
          <a:xfrm>
            <a:off x="3139364" y="2103120"/>
            <a:ext cx="219456" cy="0"/>
          </a:xfrm>
          <a:prstGeom prst="line">
            <a:avLst/>
          </a:prstGeom>
          <a:noFill/>
          <a:ln w="19050">
            <a:solidFill>
              <a:srgbClr val="2E3A52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395396" y="1682496"/>
            <a:ext cx="2554148" cy="841248"/>
          </a:xfrm>
          <a:prstGeom prst="roundRect">
            <a:avLst>
              <a:gd name="adj" fmla="val 9783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home/claude/build/assets/icon_scissors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022" y="1792224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50260" y="2157984"/>
            <a:ext cx="24444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Structure-Aware Chunking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441116" y="2249424"/>
            <a:ext cx="2462708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headings, then 800c / 120 overlap</a:t>
            </a:r>
            <a:endParaRPr lang="en-US" sz="670" dirty="0"/>
          </a:p>
        </p:txBody>
      </p:sp>
      <p:sp>
        <p:nvSpPr>
          <p:cNvPr id="15" name="Shape 11"/>
          <p:cNvSpPr/>
          <p:nvPr/>
        </p:nvSpPr>
        <p:spPr>
          <a:xfrm>
            <a:off x="5986120" y="2103120"/>
            <a:ext cx="219456" cy="0"/>
          </a:xfrm>
          <a:prstGeom prst="line">
            <a:avLst/>
          </a:prstGeom>
          <a:noFill/>
          <a:ln w="19050">
            <a:solidFill>
              <a:srgbClr val="2E3A52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242152" y="1682496"/>
            <a:ext cx="2554148" cy="841248"/>
          </a:xfrm>
          <a:prstGeom prst="roundRect">
            <a:avLst>
              <a:gd name="adj" fmla="val 9783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2" descr="/home/claude/build/assets/icon_cpu_viol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3778" y="1792224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97016" y="2157984"/>
            <a:ext cx="24444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Embeddings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6287872" y="2249424"/>
            <a:ext cx="2462708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nv-embedqa-e5-v5</a:t>
            </a:r>
            <a:endParaRPr lang="en-US" sz="670" dirty="0"/>
          </a:p>
        </p:txBody>
      </p:sp>
      <p:sp>
        <p:nvSpPr>
          <p:cNvPr id="20" name="Shape 15"/>
          <p:cNvSpPr/>
          <p:nvPr/>
        </p:nvSpPr>
        <p:spPr>
          <a:xfrm>
            <a:off x="8832875" y="2103120"/>
            <a:ext cx="219456" cy="0"/>
          </a:xfrm>
          <a:prstGeom prst="line">
            <a:avLst/>
          </a:prstGeom>
          <a:noFill/>
          <a:ln w="19050">
            <a:solidFill>
              <a:srgbClr val="2E3A52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9088907" y="1682496"/>
            <a:ext cx="2554148" cy="841248"/>
          </a:xfrm>
          <a:prstGeom prst="roundRect">
            <a:avLst>
              <a:gd name="adj" fmla="val 9783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2" name="Image 3" descr="/home/claude/build/assets/icon_database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0533" y="1792224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43771" y="2157984"/>
            <a:ext cx="24444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9134627" y="2249424"/>
            <a:ext cx="2462708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vector store</a:t>
            </a:r>
            <a:endParaRPr lang="en-US" sz="670" dirty="0"/>
          </a:p>
        </p:txBody>
      </p:sp>
      <p:sp>
        <p:nvSpPr>
          <p:cNvPr id="25" name="Shape 19"/>
          <p:cNvSpPr/>
          <p:nvPr/>
        </p:nvSpPr>
        <p:spPr>
          <a:xfrm>
            <a:off x="548640" y="3090672"/>
            <a:ext cx="82296" cy="219456"/>
          </a:xfrm>
          <a:prstGeom prst="roundRect">
            <a:avLst/>
          </a:prstGeom>
          <a:solidFill>
            <a:srgbClr val="6EE7F9"/>
          </a:solidFill>
          <a:ln/>
        </p:spPr>
      </p:sp>
      <p:sp>
        <p:nvSpPr>
          <p:cNvPr id="26" name="Text 20"/>
          <p:cNvSpPr/>
          <p:nvPr/>
        </p:nvSpPr>
        <p:spPr>
          <a:xfrm>
            <a:off x="713232" y="304495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- QUERY PIPELINE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48640" y="3474720"/>
            <a:ext cx="1443838" cy="914400"/>
          </a:xfrm>
          <a:prstGeom prst="roundRect">
            <a:avLst>
              <a:gd name="adj" fmla="val 9000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8" name="Image 4" descr="/home/claude/build/assets/icon_user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3399" y="3584448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03504" y="3913632"/>
            <a:ext cx="133411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594360" y="4023360"/>
            <a:ext cx="1352398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chat UI</a:t>
            </a:r>
            <a:endParaRPr lang="en-US" sz="670" dirty="0"/>
          </a:p>
        </p:txBody>
      </p:sp>
      <p:sp>
        <p:nvSpPr>
          <p:cNvPr id="31" name="Shape 24"/>
          <p:cNvSpPr/>
          <p:nvPr/>
        </p:nvSpPr>
        <p:spPr>
          <a:xfrm>
            <a:off x="2015338" y="3931920"/>
            <a:ext cx="118872" cy="0"/>
          </a:xfrm>
          <a:prstGeom prst="line">
            <a:avLst/>
          </a:prstGeom>
          <a:noFill/>
          <a:ln w="13970">
            <a:solidFill>
              <a:srgbClr val="2E3A52"/>
            </a:solidFill>
            <a:prstDash val="solid"/>
            <a:tailEnd type="triangle"/>
          </a:ln>
        </p:spPr>
      </p:sp>
      <p:sp>
        <p:nvSpPr>
          <p:cNvPr id="32" name="Shape 25"/>
          <p:cNvSpPr/>
          <p:nvPr/>
        </p:nvSpPr>
        <p:spPr>
          <a:xfrm>
            <a:off x="2157070" y="3474720"/>
            <a:ext cx="1443838" cy="914400"/>
          </a:xfrm>
          <a:prstGeom prst="roundRect">
            <a:avLst>
              <a:gd name="adj" fmla="val 9000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33" name="Image 5" descr="/home/claude/build/assets/icon_server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1828" y="3584448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2211934" y="3913632"/>
            <a:ext cx="133411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2202790" y="4023360"/>
            <a:ext cx="1352398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→ services</a:t>
            </a:r>
            <a:endParaRPr lang="en-US" sz="670" dirty="0"/>
          </a:p>
        </p:txBody>
      </p:sp>
      <p:sp>
        <p:nvSpPr>
          <p:cNvPr id="36" name="Shape 28"/>
          <p:cNvSpPr/>
          <p:nvPr/>
        </p:nvSpPr>
        <p:spPr>
          <a:xfrm>
            <a:off x="3623767" y="3931920"/>
            <a:ext cx="118872" cy="0"/>
          </a:xfrm>
          <a:prstGeom prst="line">
            <a:avLst/>
          </a:prstGeom>
          <a:noFill/>
          <a:ln w="13970">
            <a:solidFill>
              <a:srgbClr val="2E3A52"/>
            </a:solidFill>
            <a:prstDash val="solid"/>
            <a:tailEnd type="triangle"/>
          </a:ln>
        </p:spPr>
      </p:sp>
      <p:sp>
        <p:nvSpPr>
          <p:cNvPr id="37" name="Shape 29"/>
          <p:cNvSpPr/>
          <p:nvPr/>
        </p:nvSpPr>
        <p:spPr>
          <a:xfrm>
            <a:off x="3765499" y="3474720"/>
            <a:ext cx="1443838" cy="914400"/>
          </a:xfrm>
          <a:prstGeom prst="roundRect">
            <a:avLst>
              <a:gd name="adj" fmla="val 9000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38" name="Image 6" descr="/home/claude/build/assets/icon_sliders_viole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0258" y="3584448"/>
            <a:ext cx="274320" cy="27432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3820363" y="3913632"/>
            <a:ext cx="133411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Improvement</a:t>
            </a:r>
            <a:endParaRPr lang="en-US" sz="800" dirty="0"/>
          </a:p>
        </p:txBody>
      </p:sp>
      <p:sp>
        <p:nvSpPr>
          <p:cNvPr id="40" name="Text 31"/>
          <p:cNvSpPr/>
          <p:nvPr/>
        </p:nvSpPr>
        <p:spPr>
          <a:xfrm>
            <a:off x="3811219" y="4023360"/>
            <a:ext cx="1352398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rewrite / rule fallback</a:t>
            </a:r>
            <a:endParaRPr lang="en-US" sz="670" dirty="0"/>
          </a:p>
        </p:txBody>
      </p:sp>
      <p:sp>
        <p:nvSpPr>
          <p:cNvPr id="41" name="Shape 32"/>
          <p:cNvSpPr/>
          <p:nvPr/>
        </p:nvSpPr>
        <p:spPr>
          <a:xfrm>
            <a:off x="5232197" y="3931920"/>
            <a:ext cx="118872" cy="0"/>
          </a:xfrm>
          <a:prstGeom prst="line">
            <a:avLst/>
          </a:prstGeom>
          <a:noFill/>
          <a:ln w="13970">
            <a:solidFill>
              <a:srgbClr val="2E3A52"/>
            </a:solidFill>
            <a:prstDash val="solid"/>
            <a:tailEnd type="triangle"/>
          </a:ln>
        </p:spPr>
      </p:sp>
      <p:sp>
        <p:nvSpPr>
          <p:cNvPr id="42" name="Shape 33"/>
          <p:cNvSpPr/>
          <p:nvPr/>
        </p:nvSpPr>
        <p:spPr>
          <a:xfrm>
            <a:off x="5373929" y="3474720"/>
            <a:ext cx="1443838" cy="914400"/>
          </a:xfrm>
          <a:prstGeom prst="roundRect">
            <a:avLst>
              <a:gd name="adj" fmla="val 9000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43" name="Image 7" descr="/home/claude/build/assets/icon_gitmerge_cya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58688" y="3584448"/>
            <a:ext cx="274320" cy="27432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5428793" y="3913632"/>
            <a:ext cx="133411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800" dirty="0"/>
          </a:p>
        </p:txBody>
      </p:sp>
      <p:sp>
        <p:nvSpPr>
          <p:cNvPr id="45" name="Text 35"/>
          <p:cNvSpPr/>
          <p:nvPr/>
        </p:nvSpPr>
        <p:spPr>
          <a:xfrm>
            <a:off x="5419649" y="4023360"/>
            <a:ext cx="1352398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Chroma vector</a:t>
            </a:r>
            <a:endParaRPr lang="en-US" sz="670" dirty="0"/>
          </a:p>
        </p:txBody>
      </p:sp>
      <p:sp>
        <p:nvSpPr>
          <p:cNvPr id="46" name="Shape 36"/>
          <p:cNvSpPr/>
          <p:nvPr/>
        </p:nvSpPr>
        <p:spPr>
          <a:xfrm>
            <a:off x="6840626" y="3931920"/>
            <a:ext cx="118872" cy="0"/>
          </a:xfrm>
          <a:prstGeom prst="line">
            <a:avLst/>
          </a:prstGeom>
          <a:noFill/>
          <a:ln w="13970">
            <a:solidFill>
              <a:srgbClr val="2E3A52"/>
            </a:solidFill>
            <a:prstDash val="solid"/>
            <a:tailEnd type="triangle"/>
          </a:ln>
        </p:spPr>
      </p:sp>
      <p:sp>
        <p:nvSpPr>
          <p:cNvPr id="47" name="Shape 37"/>
          <p:cNvSpPr/>
          <p:nvPr/>
        </p:nvSpPr>
        <p:spPr>
          <a:xfrm>
            <a:off x="6982358" y="3474720"/>
            <a:ext cx="1443838" cy="914400"/>
          </a:xfrm>
          <a:prstGeom prst="roundRect">
            <a:avLst>
              <a:gd name="adj" fmla="val 9000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48" name="Image 8" descr="/home/claude/build/assets/icon_filter_cya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67117" y="3584448"/>
            <a:ext cx="274320" cy="274320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7037222" y="3913632"/>
            <a:ext cx="133411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Fusion</a:t>
            </a:r>
            <a:endParaRPr lang="en-US" sz="800" dirty="0"/>
          </a:p>
        </p:txBody>
      </p:sp>
      <p:sp>
        <p:nvSpPr>
          <p:cNvPr id="50" name="Text 39"/>
          <p:cNvSpPr/>
          <p:nvPr/>
        </p:nvSpPr>
        <p:spPr>
          <a:xfrm>
            <a:off x="7028078" y="4023360"/>
            <a:ext cx="1352398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rank fusion</a:t>
            </a:r>
            <a:endParaRPr lang="en-US" sz="670" dirty="0"/>
          </a:p>
        </p:txBody>
      </p:sp>
      <p:sp>
        <p:nvSpPr>
          <p:cNvPr id="51" name="Shape 40"/>
          <p:cNvSpPr/>
          <p:nvPr/>
        </p:nvSpPr>
        <p:spPr>
          <a:xfrm>
            <a:off x="8449056" y="3931920"/>
            <a:ext cx="118872" cy="0"/>
          </a:xfrm>
          <a:prstGeom prst="line">
            <a:avLst/>
          </a:prstGeom>
          <a:noFill/>
          <a:ln w="13970">
            <a:solidFill>
              <a:srgbClr val="2E3A52"/>
            </a:solidFill>
            <a:prstDash val="solid"/>
            <a:tailEnd type="triangle"/>
          </a:ln>
        </p:spPr>
      </p:sp>
      <p:sp>
        <p:nvSpPr>
          <p:cNvPr id="52" name="Shape 41"/>
          <p:cNvSpPr/>
          <p:nvPr/>
        </p:nvSpPr>
        <p:spPr>
          <a:xfrm>
            <a:off x="8590788" y="3474720"/>
            <a:ext cx="1443838" cy="914400"/>
          </a:xfrm>
          <a:prstGeom prst="roundRect">
            <a:avLst>
              <a:gd name="adj" fmla="val 9000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53" name="Image 9" descr="/home/claude/build/assets/icon_checkcircle_viole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75547" y="3584448"/>
            <a:ext cx="274320" cy="274320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8645652" y="3913632"/>
            <a:ext cx="133411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Reranker</a:t>
            </a:r>
            <a:endParaRPr lang="en-US" sz="800" dirty="0"/>
          </a:p>
        </p:txBody>
      </p:sp>
      <p:sp>
        <p:nvSpPr>
          <p:cNvPr id="55" name="Text 43"/>
          <p:cNvSpPr/>
          <p:nvPr/>
        </p:nvSpPr>
        <p:spPr>
          <a:xfrm>
            <a:off x="8636508" y="4023360"/>
            <a:ext cx="1352398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nv-rerankqa-mistral-4b</a:t>
            </a:r>
            <a:endParaRPr lang="en-US" sz="670" dirty="0"/>
          </a:p>
        </p:txBody>
      </p:sp>
      <p:sp>
        <p:nvSpPr>
          <p:cNvPr id="56" name="Shape 44"/>
          <p:cNvSpPr/>
          <p:nvPr/>
        </p:nvSpPr>
        <p:spPr>
          <a:xfrm>
            <a:off x="10057486" y="3931920"/>
            <a:ext cx="118872" cy="0"/>
          </a:xfrm>
          <a:prstGeom prst="line">
            <a:avLst/>
          </a:prstGeom>
          <a:noFill/>
          <a:ln w="13970">
            <a:solidFill>
              <a:srgbClr val="2E3A52"/>
            </a:solidFill>
            <a:prstDash val="solid"/>
            <a:tailEnd type="triangle"/>
          </a:ln>
        </p:spPr>
      </p:sp>
      <p:sp>
        <p:nvSpPr>
          <p:cNvPr id="57" name="Shape 45"/>
          <p:cNvSpPr/>
          <p:nvPr/>
        </p:nvSpPr>
        <p:spPr>
          <a:xfrm>
            <a:off x="10199218" y="3474720"/>
            <a:ext cx="1443838" cy="914400"/>
          </a:xfrm>
          <a:prstGeom prst="roundRect">
            <a:avLst>
              <a:gd name="adj" fmla="val 9000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58" name="Image 10" descr="/home/claude/build/assets/icon_message_viole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83976" y="3584448"/>
            <a:ext cx="274320" cy="274320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10254082" y="3913632"/>
            <a:ext cx="133411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Generation</a:t>
            </a:r>
            <a:endParaRPr lang="en-US" sz="800" dirty="0"/>
          </a:p>
        </p:txBody>
      </p:sp>
      <p:sp>
        <p:nvSpPr>
          <p:cNvPr id="60" name="Text 47"/>
          <p:cNvSpPr/>
          <p:nvPr/>
        </p:nvSpPr>
        <p:spPr>
          <a:xfrm>
            <a:off x="10244938" y="4023360"/>
            <a:ext cx="1352398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7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Gateway · cited answer</a:t>
            </a:r>
            <a:endParaRPr lang="en-US" sz="670" dirty="0"/>
          </a:p>
        </p:txBody>
      </p:sp>
      <p:sp>
        <p:nvSpPr>
          <p:cNvPr id="61" name="Shape 48"/>
          <p:cNvSpPr/>
          <p:nvPr/>
        </p:nvSpPr>
        <p:spPr>
          <a:xfrm>
            <a:off x="10365981" y="2551176"/>
            <a:ext cx="0" cy="466344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62" name="Shape 49"/>
          <p:cNvSpPr/>
          <p:nvPr/>
        </p:nvSpPr>
        <p:spPr>
          <a:xfrm>
            <a:off x="6095848" y="3017520"/>
            <a:ext cx="4270134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63" name="Shape 50"/>
          <p:cNvSpPr/>
          <p:nvPr/>
        </p:nvSpPr>
        <p:spPr>
          <a:xfrm>
            <a:off x="6095848" y="3017520"/>
            <a:ext cx="0" cy="429768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64" name="Shape 51"/>
          <p:cNvSpPr/>
          <p:nvPr/>
        </p:nvSpPr>
        <p:spPr>
          <a:xfrm>
            <a:off x="10921136" y="4407408"/>
            <a:ext cx="0" cy="164592"/>
          </a:xfrm>
          <a:prstGeom prst="line">
            <a:avLst/>
          </a:prstGeom>
          <a:noFill/>
          <a:ln w="16510">
            <a:solidFill>
              <a:srgbClr val="6EE7F9"/>
            </a:solidFill>
            <a:prstDash val="solid"/>
            <a:tailEnd type="triangle"/>
          </a:ln>
        </p:spPr>
      </p:sp>
      <p:sp>
        <p:nvSpPr>
          <p:cNvPr id="65" name="Shape 52"/>
          <p:cNvSpPr/>
          <p:nvPr/>
        </p:nvSpPr>
        <p:spPr>
          <a:xfrm>
            <a:off x="9696298" y="4590288"/>
            <a:ext cx="2449678" cy="365760"/>
          </a:xfrm>
          <a:prstGeom prst="roundRect">
            <a:avLst>
              <a:gd name="adj" fmla="val 50000"/>
            </a:avLst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66" name="Text 53"/>
          <p:cNvSpPr/>
          <p:nvPr/>
        </p:nvSpPr>
        <p:spPr>
          <a:xfrm>
            <a:off x="9696298" y="4590288"/>
            <a:ext cx="24496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 → React UI</a:t>
            </a:r>
            <a:endParaRPr lang="en-US" sz="850" dirty="0"/>
          </a:p>
        </p:txBody>
      </p:sp>
      <p:sp>
        <p:nvSpPr>
          <p:cNvPr id="67" name="Shape 54"/>
          <p:cNvSpPr/>
          <p:nvPr/>
        </p:nvSpPr>
        <p:spPr>
          <a:xfrm>
            <a:off x="548640" y="5120640"/>
            <a:ext cx="128016" cy="128016"/>
          </a:xfrm>
          <a:prstGeom prst="ellipse">
            <a:avLst/>
          </a:prstGeom>
          <a:solidFill>
            <a:srgbClr val="6EE7F9"/>
          </a:solidFill>
          <a:ln/>
        </p:spPr>
      </p:sp>
      <p:sp>
        <p:nvSpPr>
          <p:cNvPr id="68" name="Text 55"/>
          <p:cNvSpPr/>
          <p:nvPr/>
        </p:nvSpPr>
        <p:spPr>
          <a:xfrm>
            <a:off x="749808" y="506577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/ infra stage</a:t>
            </a:r>
            <a:endParaRPr lang="en-US" sz="900" dirty="0"/>
          </a:p>
        </p:txBody>
      </p:sp>
      <p:sp>
        <p:nvSpPr>
          <p:cNvPr id="69" name="Shape 56"/>
          <p:cNvSpPr/>
          <p:nvPr/>
        </p:nvSpPr>
        <p:spPr>
          <a:xfrm>
            <a:off x="4114800" y="5120640"/>
            <a:ext cx="128016" cy="12801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70" name="Text 57"/>
          <p:cNvSpPr/>
          <p:nvPr/>
        </p:nvSpPr>
        <p:spPr>
          <a:xfrm>
            <a:off x="4315968" y="506577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AI-model stage (NVIDIA / Key Gateway)</a:t>
            </a:r>
            <a:endParaRPr lang="en-US" sz="900" dirty="0"/>
          </a:p>
        </p:txBody>
      </p:sp>
      <p:sp>
        <p:nvSpPr>
          <p:cNvPr id="71" name="Text 58"/>
          <p:cNvSpPr/>
          <p:nvPr/>
        </p:nvSpPr>
        <p:spPr>
          <a:xfrm>
            <a:off x="7589520" y="5065776"/>
            <a:ext cx="40535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3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providers degrade independently to a transparent local fallback - the full pipeline runs with zero API keys.</a:t>
            </a:r>
            <a:endParaRPr lang="en-US" sz="830" dirty="0"/>
          </a:p>
        </p:txBody>
      </p:sp>
      <p:sp>
        <p:nvSpPr>
          <p:cNvPr id="72" name="Shape 59"/>
          <p:cNvSpPr/>
          <p:nvPr/>
        </p:nvSpPr>
        <p:spPr>
          <a:xfrm>
            <a:off x="548640" y="5660136"/>
            <a:ext cx="11094415" cy="0"/>
          </a:xfrm>
          <a:prstGeom prst="line">
            <a:avLst/>
          </a:prstGeom>
          <a:noFill/>
          <a:ln w="9525">
            <a:solidFill>
              <a:srgbClr val="232D42"/>
            </a:solidFill>
            <a:prstDash val="solid"/>
          </a:ln>
        </p:spPr>
      </p:sp>
      <p:sp>
        <p:nvSpPr>
          <p:cNvPr id="73" name="Text 60"/>
          <p:cNvSpPr/>
          <p:nvPr/>
        </p:nvSpPr>
        <p:spPr>
          <a:xfrm>
            <a:off x="548640" y="58064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74" name="Shape 61"/>
          <p:cNvSpPr/>
          <p:nvPr/>
        </p:nvSpPr>
        <p:spPr>
          <a:xfrm>
            <a:off x="2651760" y="5779008"/>
            <a:ext cx="1111910" cy="365760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12700">
            <a:solidFill>
              <a:srgbClr val="2E3A52"/>
            </a:solidFill>
            <a:prstDash val="solid"/>
          </a:ln>
        </p:spPr>
      </p:sp>
      <p:sp>
        <p:nvSpPr>
          <p:cNvPr id="75" name="Text 62"/>
          <p:cNvSpPr/>
          <p:nvPr/>
        </p:nvSpPr>
        <p:spPr>
          <a:xfrm>
            <a:off x="2651760" y="5779008"/>
            <a:ext cx="11119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</a:t>
            </a:r>
            <a:endParaRPr lang="en-US" sz="900" dirty="0"/>
          </a:p>
        </p:txBody>
      </p:sp>
      <p:sp>
        <p:nvSpPr>
          <p:cNvPr id="76" name="Shape 63"/>
          <p:cNvSpPr/>
          <p:nvPr/>
        </p:nvSpPr>
        <p:spPr>
          <a:xfrm>
            <a:off x="3928262" y="5779008"/>
            <a:ext cx="709574" cy="365760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12700">
            <a:solidFill>
              <a:srgbClr val="2E3A52"/>
            </a:solidFill>
            <a:prstDash val="solid"/>
          </a:ln>
        </p:spPr>
      </p:sp>
      <p:sp>
        <p:nvSpPr>
          <p:cNvPr id="77" name="Text 64"/>
          <p:cNvSpPr/>
          <p:nvPr/>
        </p:nvSpPr>
        <p:spPr>
          <a:xfrm>
            <a:off x="3928262" y="5779008"/>
            <a:ext cx="7095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sp>
        <p:nvSpPr>
          <p:cNvPr id="78" name="Shape 65"/>
          <p:cNvSpPr/>
          <p:nvPr/>
        </p:nvSpPr>
        <p:spPr>
          <a:xfrm>
            <a:off x="4802429" y="5779008"/>
            <a:ext cx="629107" cy="365760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12700">
            <a:solidFill>
              <a:srgbClr val="2E3A52"/>
            </a:solidFill>
            <a:prstDash val="solid"/>
          </a:ln>
        </p:spPr>
      </p:sp>
      <p:sp>
        <p:nvSpPr>
          <p:cNvPr id="79" name="Text 66"/>
          <p:cNvSpPr/>
          <p:nvPr/>
        </p:nvSpPr>
        <p:spPr>
          <a:xfrm>
            <a:off x="4802429" y="5779008"/>
            <a:ext cx="6291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00" dirty="0"/>
          </a:p>
        </p:txBody>
      </p:sp>
      <p:sp>
        <p:nvSpPr>
          <p:cNvPr id="80" name="Shape 67"/>
          <p:cNvSpPr/>
          <p:nvPr/>
        </p:nvSpPr>
        <p:spPr>
          <a:xfrm>
            <a:off x="5596128" y="5779008"/>
            <a:ext cx="790042" cy="365760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12700">
            <a:solidFill>
              <a:srgbClr val="2E3A52"/>
            </a:solidFill>
            <a:prstDash val="solid"/>
          </a:ln>
        </p:spPr>
      </p:sp>
      <p:sp>
        <p:nvSpPr>
          <p:cNvPr id="81" name="Text 68"/>
          <p:cNvSpPr/>
          <p:nvPr/>
        </p:nvSpPr>
        <p:spPr>
          <a:xfrm>
            <a:off x="5596128" y="5779008"/>
            <a:ext cx="7900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900" dirty="0"/>
          </a:p>
        </p:txBody>
      </p:sp>
      <p:sp>
        <p:nvSpPr>
          <p:cNvPr id="82" name="Shape 69"/>
          <p:cNvSpPr/>
          <p:nvPr/>
        </p:nvSpPr>
        <p:spPr>
          <a:xfrm>
            <a:off x="6550762" y="5779008"/>
            <a:ext cx="950976" cy="365760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12700">
            <a:solidFill>
              <a:srgbClr val="2E3A52"/>
            </a:solidFill>
            <a:prstDash val="solid"/>
          </a:ln>
        </p:spPr>
      </p:sp>
      <p:sp>
        <p:nvSpPr>
          <p:cNvPr id="83" name="Text 70"/>
          <p:cNvSpPr/>
          <p:nvPr/>
        </p:nvSpPr>
        <p:spPr>
          <a:xfrm>
            <a:off x="6550762" y="5779008"/>
            <a:ext cx="950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</a:t>
            </a:r>
            <a:endParaRPr lang="en-US" sz="900" dirty="0"/>
          </a:p>
        </p:txBody>
      </p:sp>
      <p:sp>
        <p:nvSpPr>
          <p:cNvPr id="84" name="Shape 71"/>
          <p:cNvSpPr/>
          <p:nvPr/>
        </p:nvSpPr>
        <p:spPr>
          <a:xfrm>
            <a:off x="7666330" y="5779008"/>
            <a:ext cx="1514246" cy="365760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12700">
            <a:solidFill>
              <a:srgbClr val="2E3A52"/>
            </a:solidFill>
            <a:prstDash val="solid"/>
          </a:ln>
        </p:spPr>
      </p:sp>
      <p:sp>
        <p:nvSpPr>
          <p:cNvPr id="85" name="Text 72"/>
          <p:cNvSpPr/>
          <p:nvPr/>
        </p:nvSpPr>
        <p:spPr>
          <a:xfrm>
            <a:off x="7666330" y="5779008"/>
            <a:ext cx="151424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Gateway (LLM)</a:t>
            </a:r>
            <a:endParaRPr lang="en-US" sz="900" dirty="0"/>
          </a:p>
        </p:txBody>
      </p:sp>
      <p:sp>
        <p:nvSpPr>
          <p:cNvPr id="86" name="Text 73"/>
          <p:cNvSpPr/>
          <p:nvPr/>
        </p:nvSpPr>
        <p:spPr>
          <a:xfrm>
            <a:off x="10820095" y="64739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6191" dur="indefinite" restart="never" nodeType="tmRoot">
          <p:childTnLst>
            <p:seq concat="0" nextAc="seek">
              <p:cTn id="6192" dur="indefinite" nodeType="mainSeq">
                <p:childTnLst>
                  <p:par>
                    <p:cTn id="6001" nodeType="clickEffect">
                      <p:stCondLst>
                        <p:cond delay="0"/>
                      </p:stCondLst>
                      <p:childTnLst>
                        <p:par>
                          <p:cTn id="600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04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0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07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0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10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11" nodeType="afterEffect">
                      <p:stCondLst>
                        <p:cond delay="80"/>
                      </p:stCondLst>
                      <p:childTnLst>
                        <p:par>
                          <p:cTn id="60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14" dur="2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15" nodeType="afterEffect">
                      <p:stCondLst>
                        <p:cond delay="100"/>
                      </p:stCondLst>
                      <p:childTnLst>
                        <p:par>
                          <p:cTn id="60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18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1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21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2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24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25" nodeType="afterEffect">
                      <p:stCondLst>
                        <p:cond delay="80"/>
                      </p:stCondLst>
                      <p:childTnLst>
                        <p:par>
                          <p:cTn id="602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28" dur="2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29" nodeType="afterEffect">
                      <p:stCondLst>
                        <p:cond delay="100"/>
                      </p:stCondLst>
                      <p:childTnLst>
                        <p:par>
                          <p:cTn id="603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32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3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35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38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39" nodeType="afterEffect">
                      <p:stCondLst>
                        <p:cond delay="80"/>
                      </p:stCondLst>
                      <p:childTnLst>
                        <p:par>
                          <p:cTn id="60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42" dur="2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43" nodeType="afterEffect">
                      <p:stCondLst>
                        <p:cond delay="100"/>
                      </p:stCondLst>
                      <p:childTnLst>
                        <p:par>
                          <p:cTn id="60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46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4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49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5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52" dur="4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53" nodeType="afterEffect">
                      <p:stCondLst>
                        <p:cond delay="200"/>
                      </p:stCondLst>
                      <p:childTnLst>
                        <p:par>
                          <p:cTn id="605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56" dur="4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5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59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6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62" dur="4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63" nodeType="afterEffect">
                      <p:stCondLst>
                        <p:cond delay="80"/>
                      </p:stCondLst>
                      <p:childTnLst>
                        <p:par>
                          <p:cTn id="606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66" dur="18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67" nodeType="afterEffect">
                      <p:stCondLst>
                        <p:cond delay="90"/>
                      </p:stCondLst>
                      <p:childTnLst>
                        <p:par>
                          <p:cTn id="606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70" dur="38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7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73" dur="38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7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76" dur="38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77" nodeType="afterEffect">
                      <p:stCondLst>
                        <p:cond delay="80"/>
                      </p:stCondLst>
                      <p:childTnLst>
                        <p:par>
                          <p:cTn id="607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80" dur="18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81" nodeType="afterEffect">
                      <p:stCondLst>
                        <p:cond delay="90"/>
                      </p:stCondLst>
                      <p:childTnLst>
                        <p:par>
                          <p:cTn id="608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84" dur="38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8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87" dur="38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8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90" dur="38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91" nodeType="afterEffect">
                      <p:stCondLst>
                        <p:cond delay="80"/>
                      </p:stCondLst>
                      <p:childTnLst>
                        <p:par>
                          <p:cTn id="609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9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94" dur="180"/>
                                  <p:tgtEl>
                                    <p:spTgt spid="4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95" nodeType="afterEffect">
                      <p:stCondLst>
                        <p:cond delay="90"/>
                      </p:stCondLst>
                      <p:childTnLst>
                        <p:par>
                          <p:cTn id="609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9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98" dur="380"/>
                                  <p:tgtEl>
                                    <p:spTgt spid="4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9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01" dur="380"/>
                                  <p:tgtEl>
                                    <p:spTgt spid="4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0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04" dur="380"/>
                                  <p:tgtEl>
                                    <p:spTgt spid="4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105" nodeType="afterEffect">
                      <p:stCondLst>
                        <p:cond delay="80"/>
                      </p:stCondLst>
                      <p:childTnLst>
                        <p:par>
                          <p:cTn id="610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08" dur="180"/>
                                  <p:tgtEl>
                                    <p:spTgt spid="4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109" nodeType="afterEffect">
                      <p:stCondLst>
                        <p:cond delay="90"/>
                      </p:stCondLst>
                      <p:childTnLst>
                        <p:par>
                          <p:cTn id="611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12" dur="38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1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15" dur="380"/>
                                  <p:tgtEl>
                                    <p:spTgt spid="4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18" dur="380"/>
                                  <p:tgtEl>
                                    <p:spTgt spid="5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119" nodeType="afterEffect">
                      <p:stCondLst>
                        <p:cond delay="80"/>
                      </p:stCondLst>
                      <p:childTnLst>
                        <p:par>
                          <p:cTn id="61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22" dur="18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123" nodeType="afterEffect">
                      <p:stCondLst>
                        <p:cond delay="90"/>
                      </p:stCondLst>
                      <p:childTnLst>
                        <p:par>
                          <p:cTn id="612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26" dur="380"/>
                                  <p:tgtEl>
                                    <p:spTgt spid="5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2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29" dur="380"/>
                                  <p:tgtEl>
                                    <p:spTgt spid="5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3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32" dur="38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133" nodeType="afterEffect">
                      <p:stCondLst>
                        <p:cond delay="80"/>
                      </p:stCondLst>
                      <p:childTnLst>
                        <p:par>
                          <p:cTn id="613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36" dur="180"/>
                                  <p:tgtEl>
                                    <p:spTgt spid="5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137" nodeType="afterEffect">
                      <p:stCondLst>
                        <p:cond delay="90"/>
                      </p:stCondLst>
                      <p:childTnLst>
                        <p:par>
                          <p:cTn id="613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40" dur="380"/>
                                  <p:tgtEl>
                                    <p:spTgt spid="5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4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43" dur="380"/>
                                  <p:tgtEl>
                                    <p:spTgt spid="5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46" dur="380"/>
                                  <p:tgtEl>
                                    <p:spTgt spid="6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147" nodeType="afterEffect">
                      <p:stCondLst>
                        <p:cond delay="150"/>
                      </p:stCondLst>
                      <p:childTnLst>
                        <p:par>
                          <p:cTn id="614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50" dur="400"/>
                                  <p:tgtEl>
                                    <p:spTgt spid="6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5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53" dur="400"/>
                                  <p:tgtEl>
                                    <p:spTgt spid="6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154" nodeType="afterEffect">
                      <p:stCondLst>
                        <p:cond delay="200"/>
                      </p:stCondLst>
                      <p:childTnLst>
                        <p:par>
                          <p:cTn id="61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57" dur="350"/>
                                  <p:tgtEl>
                                    <p:spTgt spid="7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58" presetID="10" presetClass="entr" presetSubtype="0" fill="hold" nodeType="withEffect">
                            <p:stCondLst>
                              <p:cond delay="60"/>
                            </p:stCondLst>
                            <p:childTnLst>
                              <p:set>
                                <p:cBhvr>
                                  <p:cTn id="61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60" dur="350"/>
                                  <p:tgtEl>
                                    <p:spTgt spid="7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61" presetID="10" presetClass="entr" presetSubtype="0" fill="hold" nodeType="withEffect">
                            <p:stCondLst>
                              <p:cond delay="120"/>
                            </p:stCondLst>
                            <p:childTnLst>
                              <p:set>
                                <p:cBhvr>
                                  <p:cTn id="61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63" dur="350"/>
                                  <p:tgtEl>
                                    <p:spTgt spid="7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64" presetID="10" presetClass="entr" presetSubtype="0" fill="hold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61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66" dur="350"/>
                                  <p:tgtEl>
                                    <p:spTgt spid="7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67" presetID="10" presetClass="entr" presetSubtype="0" fill="hold" nodeType="with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61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69" dur="350"/>
                                  <p:tgtEl>
                                    <p:spTgt spid="7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70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61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72" dur="350"/>
                                  <p:tgtEl>
                                    <p:spTgt spid="7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73" presetID="10" presetClass="entr" presetSubtype="0" fill="hold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61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75" dur="350"/>
                                  <p:tgtEl>
                                    <p:spTgt spid="8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76" presetID="10" presetClass="entr" presetSubtype="0" fill="hold" nodeType="withEffect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61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78" dur="350"/>
                                  <p:tgtEl>
                                    <p:spTgt spid="8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79" presetID="10" presetClass="entr" presetSubtype="0" fill="hold" nodeType="with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61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81" dur="350"/>
                                  <p:tgtEl>
                                    <p:spTgt spid="8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82" presetID="10" presetClass="entr" presetSubtype="0" fill="hold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61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84" dur="350"/>
                                  <p:tgtEl>
                                    <p:spTgt spid="8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85" presetID="10" presetClass="entr" presetSubtype="0" fill="hold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61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87" dur="350"/>
                                  <p:tgtEl>
                                    <p:spTgt spid="8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88" presetID="10" presetClass="entr" presetSubtype="0" fill="hold" nodeType="withEffect">
                            <p:stCondLst>
                              <p:cond delay="660"/>
                            </p:stCondLst>
                            <p:childTnLst>
                              <p:set>
                                <p:cBhvr>
                                  <p:cTn id="61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90" dur="350"/>
                                  <p:tgtEl>
                                    <p:spTgt spid="8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LIFECYCLE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A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Pipeline - What Happens at Every Stage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0332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raw document to a cited answer, in twelve traceable stages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2663876" cy="1527048"/>
          </a:xfrm>
          <a:prstGeom prst="roundRect">
            <a:avLst>
              <a:gd name="adj" fmla="val 5389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1609344"/>
            <a:ext cx="310896" cy="310896"/>
          </a:xfrm>
          <a:prstGeom prst="ellipse">
            <a:avLst/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6093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8" name="Image 0" descr="/home/claude/build/assets/icon_documents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468" y="162763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011680"/>
            <a:ext cx="23895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2359152"/>
            <a:ext cx="23895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DOCX, TXT, MD are loaded and converted to processable text.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358820" y="1481328"/>
            <a:ext cx="2663876" cy="1527048"/>
          </a:xfrm>
          <a:prstGeom prst="roundRect">
            <a:avLst>
              <a:gd name="adj" fmla="val 5389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86836" y="1609344"/>
            <a:ext cx="310896" cy="310896"/>
          </a:xfrm>
          <a:prstGeom prst="ellipse">
            <a:avLst/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86836" y="16093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14" name="Image 1" descr="/home/claude/build/assets/icon_scissors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648" y="1627632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95980" y="2011680"/>
            <a:ext cx="23895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495980" y="2359152"/>
            <a:ext cx="23895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Structure-aware split on headings, then sliding window (800 chars / 120 overlap).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6169000" y="1481328"/>
            <a:ext cx="2663876" cy="1527048"/>
          </a:xfrm>
          <a:prstGeom prst="roundRect">
            <a:avLst>
              <a:gd name="adj" fmla="val 5389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97016" y="1609344"/>
            <a:ext cx="310896" cy="310896"/>
          </a:xfrm>
          <a:prstGeom prst="ellipse">
            <a:avLst/>
          </a:prstGeom>
          <a:solidFill>
            <a:srgbClr val="2A235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97016" y="16093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20" name="Image 2" descr="/home/claude/build/assets/icon_cpu_viol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8827" y="1627632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6160" y="2011680"/>
            <a:ext cx="23895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306160" y="2359152"/>
            <a:ext cx="23895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chunk becomes a vector via NVIDIA nv-embedqa-e5-v5.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8979179" y="1481328"/>
            <a:ext cx="2663876" cy="1527048"/>
          </a:xfrm>
          <a:prstGeom prst="roundRect">
            <a:avLst>
              <a:gd name="adj" fmla="val 5389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107195" y="1609344"/>
            <a:ext cx="310896" cy="310896"/>
          </a:xfrm>
          <a:prstGeom prst="ellipse">
            <a:avLst/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9107195" y="16093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pic>
        <p:nvPicPr>
          <p:cNvPr id="26" name="Image 3" descr="/home/claude/build/assets/icon_database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59007" y="1627632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116339" y="2011680"/>
            <a:ext cx="23895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9116339" y="2359152"/>
            <a:ext cx="23895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+ metadata stored in ChromaDB, chunk text kept in SQLite.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548640" y="3154680"/>
            <a:ext cx="2663876" cy="1527048"/>
          </a:xfrm>
          <a:prstGeom prst="roundRect">
            <a:avLst>
              <a:gd name="adj" fmla="val 5389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76656" y="3282696"/>
            <a:ext cx="310896" cy="310896"/>
          </a:xfrm>
          <a:prstGeom prst="ellipse">
            <a:avLst/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pic>
        <p:nvPicPr>
          <p:cNvPr id="32" name="Image 4" descr="/home/claude/build/assets/icon_user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8468" y="3300984"/>
            <a:ext cx="256032" cy="25603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85800" y="3685032"/>
            <a:ext cx="23895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685800" y="4032504"/>
            <a:ext cx="23895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asks a natural-language question in the React chat UI.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>
            <a:off x="3358820" y="3154680"/>
            <a:ext cx="2663876" cy="1527048"/>
          </a:xfrm>
          <a:prstGeom prst="roundRect">
            <a:avLst>
              <a:gd name="adj" fmla="val 5389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3486836" y="3282696"/>
            <a:ext cx="310896" cy="310896"/>
          </a:xfrm>
          <a:prstGeom prst="ellipse">
            <a:avLst/>
          </a:prstGeom>
          <a:solidFill>
            <a:srgbClr val="2A235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348683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pic>
        <p:nvPicPr>
          <p:cNvPr id="38" name="Image 5" descr="/home/claude/build/assets/icon_sliders_viol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8648" y="3300984"/>
            <a:ext cx="256032" cy="25603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3495980" y="3685032"/>
            <a:ext cx="23895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3495980" y="4032504"/>
            <a:ext cx="23895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is rewritten for retrieval via the Key Gateway LLM, or rule-based fallback.</a:t>
            </a:r>
            <a:endParaRPr lang="en-US" sz="800" dirty="0"/>
          </a:p>
        </p:txBody>
      </p:sp>
      <p:sp>
        <p:nvSpPr>
          <p:cNvPr id="41" name="Shape 33"/>
          <p:cNvSpPr/>
          <p:nvPr/>
        </p:nvSpPr>
        <p:spPr>
          <a:xfrm>
            <a:off x="6169000" y="3154680"/>
            <a:ext cx="2663876" cy="1527048"/>
          </a:xfrm>
          <a:prstGeom prst="roundRect">
            <a:avLst>
              <a:gd name="adj" fmla="val 5389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6297016" y="3282696"/>
            <a:ext cx="310896" cy="310896"/>
          </a:xfrm>
          <a:prstGeom prst="ellipse">
            <a:avLst/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629701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pic>
        <p:nvPicPr>
          <p:cNvPr id="44" name="Image 6" descr="/home/claude/build/assets/icon_search_cy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8827" y="3300984"/>
            <a:ext cx="256032" cy="256032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306160" y="3685032"/>
            <a:ext cx="23895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00" dirty="0"/>
          </a:p>
        </p:txBody>
      </p:sp>
      <p:sp>
        <p:nvSpPr>
          <p:cNvPr id="46" name="Text 37"/>
          <p:cNvSpPr/>
          <p:nvPr/>
        </p:nvSpPr>
        <p:spPr>
          <a:xfrm>
            <a:off x="6306160" y="4032504"/>
            <a:ext cx="23895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keyword search + ChromaDB semantic search run over candidate chunks.</a:t>
            </a:r>
            <a:endParaRPr lang="en-US" sz="800" dirty="0"/>
          </a:p>
        </p:txBody>
      </p:sp>
      <p:sp>
        <p:nvSpPr>
          <p:cNvPr id="47" name="Shape 38"/>
          <p:cNvSpPr/>
          <p:nvPr/>
        </p:nvSpPr>
        <p:spPr>
          <a:xfrm>
            <a:off x="8979179" y="3154680"/>
            <a:ext cx="2663876" cy="1527048"/>
          </a:xfrm>
          <a:prstGeom prst="roundRect">
            <a:avLst>
              <a:gd name="adj" fmla="val 5389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9107195" y="3282696"/>
            <a:ext cx="310896" cy="310896"/>
          </a:xfrm>
          <a:prstGeom prst="ellipse">
            <a:avLst/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9107195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pic>
        <p:nvPicPr>
          <p:cNvPr id="50" name="Image 7" descr="/home/claude/build/assets/icon_gitmerge_cya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9007" y="3300984"/>
            <a:ext cx="256032" cy="256032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9116339" y="3685032"/>
            <a:ext cx="23895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Fusion</a:t>
            </a:r>
            <a:endParaRPr lang="en-US" sz="1100" dirty="0"/>
          </a:p>
        </p:txBody>
      </p:sp>
      <p:sp>
        <p:nvSpPr>
          <p:cNvPr id="52" name="Text 42"/>
          <p:cNvSpPr/>
          <p:nvPr/>
        </p:nvSpPr>
        <p:spPr>
          <a:xfrm>
            <a:off x="9116339" y="4032504"/>
            <a:ext cx="23895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 Fusion combines both rankings - weighted toward BM25 in fallback mode.</a:t>
            </a:r>
            <a:endParaRPr lang="en-US" sz="800" dirty="0"/>
          </a:p>
        </p:txBody>
      </p:sp>
      <p:sp>
        <p:nvSpPr>
          <p:cNvPr id="53" name="Shape 43"/>
          <p:cNvSpPr/>
          <p:nvPr/>
        </p:nvSpPr>
        <p:spPr>
          <a:xfrm>
            <a:off x="548640" y="4828032"/>
            <a:ext cx="2663876" cy="1527048"/>
          </a:xfrm>
          <a:prstGeom prst="roundRect">
            <a:avLst>
              <a:gd name="adj" fmla="val 5389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4" name="Shape 44"/>
          <p:cNvSpPr/>
          <p:nvPr/>
        </p:nvSpPr>
        <p:spPr>
          <a:xfrm>
            <a:off x="676656" y="4956048"/>
            <a:ext cx="310896" cy="310896"/>
          </a:xfrm>
          <a:prstGeom prst="ellipse">
            <a:avLst/>
          </a:prstGeom>
          <a:solidFill>
            <a:srgbClr val="2A235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5" name="Text 45"/>
          <p:cNvSpPr/>
          <p:nvPr/>
        </p:nvSpPr>
        <p:spPr>
          <a:xfrm>
            <a:off x="676656" y="49560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pic>
        <p:nvPicPr>
          <p:cNvPr id="56" name="Image 8" descr="/home/claude/build/assets/icon_checkcircle_viole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28468" y="4974336"/>
            <a:ext cx="256032" cy="256032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685800" y="5358384"/>
            <a:ext cx="23895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1100" dirty="0"/>
          </a:p>
        </p:txBody>
      </p:sp>
      <p:sp>
        <p:nvSpPr>
          <p:cNvPr id="58" name="Text 47"/>
          <p:cNvSpPr/>
          <p:nvPr/>
        </p:nvSpPr>
        <p:spPr>
          <a:xfrm>
            <a:off x="685800" y="5705856"/>
            <a:ext cx="23895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nv-rerankqa-mistral-4b cross-encoder re-scores candidates against the query.</a:t>
            </a:r>
            <a:endParaRPr lang="en-US" sz="800" dirty="0"/>
          </a:p>
        </p:txBody>
      </p:sp>
      <p:sp>
        <p:nvSpPr>
          <p:cNvPr id="59" name="Shape 48"/>
          <p:cNvSpPr/>
          <p:nvPr/>
        </p:nvSpPr>
        <p:spPr>
          <a:xfrm>
            <a:off x="3358820" y="4828032"/>
            <a:ext cx="2663876" cy="1527048"/>
          </a:xfrm>
          <a:prstGeom prst="roundRect">
            <a:avLst>
              <a:gd name="adj" fmla="val 5389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0" name="Shape 49"/>
          <p:cNvSpPr/>
          <p:nvPr/>
        </p:nvSpPr>
        <p:spPr>
          <a:xfrm>
            <a:off x="3486836" y="4956048"/>
            <a:ext cx="310896" cy="310896"/>
          </a:xfrm>
          <a:prstGeom prst="ellipse">
            <a:avLst/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61" name="Text 50"/>
          <p:cNvSpPr/>
          <p:nvPr/>
        </p:nvSpPr>
        <p:spPr>
          <a:xfrm>
            <a:off x="3486836" y="49560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pic>
        <p:nvPicPr>
          <p:cNvPr id="62" name="Image 9" descr="/home/claude/build/assets/icon_filter_cya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38648" y="4974336"/>
            <a:ext cx="256032" cy="256032"/>
          </a:xfrm>
          <a:prstGeom prst="rect">
            <a:avLst/>
          </a:prstGeom>
        </p:spPr>
      </p:pic>
      <p:sp>
        <p:nvSpPr>
          <p:cNvPr id="63" name="Text 51"/>
          <p:cNvSpPr/>
          <p:nvPr/>
        </p:nvSpPr>
        <p:spPr>
          <a:xfrm>
            <a:off x="3495980" y="5358384"/>
            <a:ext cx="23895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Construction</a:t>
            </a:r>
            <a:endParaRPr lang="en-US" sz="1100" dirty="0"/>
          </a:p>
        </p:txBody>
      </p:sp>
      <p:sp>
        <p:nvSpPr>
          <p:cNvPr id="64" name="Text 52"/>
          <p:cNvSpPr/>
          <p:nvPr/>
        </p:nvSpPr>
        <p:spPr>
          <a:xfrm>
            <a:off x="3495980" y="5705856"/>
            <a:ext cx="23895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threshold, near-duplicate removal, top-N chunks selected for the prompt.</a:t>
            </a:r>
            <a:endParaRPr lang="en-US" sz="800" dirty="0"/>
          </a:p>
        </p:txBody>
      </p:sp>
      <p:sp>
        <p:nvSpPr>
          <p:cNvPr id="65" name="Shape 53"/>
          <p:cNvSpPr/>
          <p:nvPr/>
        </p:nvSpPr>
        <p:spPr>
          <a:xfrm>
            <a:off x="6169000" y="4828032"/>
            <a:ext cx="2663876" cy="1527048"/>
          </a:xfrm>
          <a:prstGeom prst="roundRect">
            <a:avLst>
              <a:gd name="adj" fmla="val 5389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6" name="Shape 54"/>
          <p:cNvSpPr/>
          <p:nvPr/>
        </p:nvSpPr>
        <p:spPr>
          <a:xfrm>
            <a:off x="6297016" y="4956048"/>
            <a:ext cx="310896" cy="310896"/>
          </a:xfrm>
          <a:prstGeom prst="ellipse">
            <a:avLst/>
          </a:prstGeom>
          <a:solidFill>
            <a:srgbClr val="2A235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7" name="Text 55"/>
          <p:cNvSpPr/>
          <p:nvPr/>
        </p:nvSpPr>
        <p:spPr>
          <a:xfrm>
            <a:off x="6297016" y="49560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pic>
        <p:nvPicPr>
          <p:cNvPr id="68" name="Image 10" descr="/home/claude/build/assets/icon_message_viole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48827" y="4974336"/>
            <a:ext cx="256032" cy="256032"/>
          </a:xfrm>
          <a:prstGeom prst="rect">
            <a:avLst/>
          </a:prstGeom>
        </p:spPr>
      </p:pic>
      <p:sp>
        <p:nvSpPr>
          <p:cNvPr id="69" name="Text 56"/>
          <p:cNvSpPr/>
          <p:nvPr/>
        </p:nvSpPr>
        <p:spPr>
          <a:xfrm>
            <a:off x="6306160" y="5358384"/>
            <a:ext cx="23895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Generation</a:t>
            </a:r>
            <a:endParaRPr lang="en-US" sz="1100" dirty="0"/>
          </a:p>
        </p:txBody>
      </p:sp>
      <p:sp>
        <p:nvSpPr>
          <p:cNvPr id="70" name="Text 57"/>
          <p:cNvSpPr/>
          <p:nvPr/>
        </p:nvSpPr>
        <p:spPr>
          <a:xfrm>
            <a:off x="6306160" y="5705856"/>
            <a:ext cx="23895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Gateway chat model answers strictly from context, citing sources inline.</a:t>
            </a:r>
            <a:endParaRPr lang="en-US" sz="800" dirty="0"/>
          </a:p>
        </p:txBody>
      </p:sp>
      <p:sp>
        <p:nvSpPr>
          <p:cNvPr id="71" name="Shape 58"/>
          <p:cNvSpPr/>
          <p:nvPr/>
        </p:nvSpPr>
        <p:spPr>
          <a:xfrm>
            <a:off x="8979179" y="4828032"/>
            <a:ext cx="2663876" cy="1527048"/>
          </a:xfrm>
          <a:prstGeom prst="roundRect">
            <a:avLst>
              <a:gd name="adj" fmla="val 5389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2" name="Shape 59"/>
          <p:cNvSpPr/>
          <p:nvPr/>
        </p:nvSpPr>
        <p:spPr>
          <a:xfrm>
            <a:off x="9107195" y="4956048"/>
            <a:ext cx="310896" cy="310896"/>
          </a:xfrm>
          <a:prstGeom prst="ellipse">
            <a:avLst/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sp>
        <p:nvSpPr>
          <p:cNvPr id="73" name="Text 60"/>
          <p:cNvSpPr/>
          <p:nvPr/>
        </p:nvSpPr>
        <p:spPr>
          <a:xfrm>
            <a:off x="9107195" y="49560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pic>
        <p:nvPicPr>
          <p:cNvPr id="74" name="Image 11" descr="/home/claude/build/assets/icon_send_cyan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59007" y="4974336"/>
            <a:ext cx="256032" cy="256032"/>
          </a:xfrm>
          <a:prstGeom prst="rect">
            <a:avLst/>
          </a:prstGeom>
        </p:spPr>
      </p:pic>
      <p:sp>
        <p:nvSpPr>
          <p:cNvPr id="75" name="Text 61"/>
          <p:cNvSpPr/>
          <p:nvPr/>
        </p:nvSpPr>
        <p:spPr>
          <a:xfrm>
            <a:off x="9116339" y="5358384"/>
            <a:ext cx="238955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76" name="Text 62"/>
          <p:cNvSpPr/>
          <p:nvPr/>
        </p:nvSpPr>
        <p:spPr>
          <a:xfrm>
            <a:off x="9116339" y="5705856"/>
            <a:ext cx="23895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 + source cards + full debug trace returned to the React frontend.</a:t>
            </a:r>
            <a:endParaRPr lang="en-US" sz="800" dirty="0"/>
          </a:p>
        </p:txBody>
      </p:sp>
      <p:sp>
        <p:nvSpPr>
          <p:cNvPr id="77" name="Shape 63"/>
          <p:cNvSpPr/>
          <p:nvPr/>
        </p:nvSpPr>
        <p:spPr>
          <a:xfrm>
            <a:off x="548640" y="6483096"/>
            <a:ext cx="109728" cy="109728"/>
          </a:xfrm>
          <a:prstGeom prst="ellipse">
            <a:avLst/>
          </a:prstGeom>
          <a:solidFill>
            <a:srgbClr val="6EE7F9"/>
          </a:solidFill>
          <a:ln/>
        </p:spPr>
      </p:sp>
      <p:sp>
        <p:nvSpPr>
          <p:cNvPr id="78" name="Text 64"/>
          <p:cNvSpPr/>
          <p:nvPr/>
        </p:nvSpPr>
        <p:spPr>
          <a:xfrm>
            <a:off x="731520" y="642823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/ infrastructure stage</a:t>
            </a:r>
            <a:endParaRPr lang="en-US" sz="850" dirty="0"/>
          </a:p>
        </p:txBody>
      </p:sp>
      <p:sp>
        <p:nvSpPr>
          <p:cNvPr id="79" name="Shape 65"/>
          <p:cNvSpPr/>
          <p:nvPr/>
        </p:nvSpPr>
        <p:spPr>
          <a:xfrm>
            <a:off x="3657600" y="6483096"/>
            <a:ext cx="109728" cy="10972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80" name="Text 66"/>
          <p:cNvSpPr/>
          <p:nvPr/>
        </p:nvSpPr>
        <p:spPr>
          <a:xfrm>
            <a:off x="3840480" y="642823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AI-model stage</a:t>
            </a:r>
            <a:endParaRPr lang="en-US" sz="850" dirty="0"/>
          </a:p>
        </p:txBody>
      </p:sp>
      <p:sp>
        <p:nvSpPr>
          <p:cNvPr id="81" name="Text 67"/>
          <p:cNvSpPr/>
          <p:nvPr/>
        </p:nvSpPr>
        <p:spPr>
          <a:xfrm>
            <a:off x="10820095" y="64739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6197" dur="indefinite" restart="never" nodeType="tmRoot">
          <p:childTnLst>
            <p:seq concat="0" nextAc="seek">
              <p:cTn id="6198" dur="indefinite" nodeType="mainSeq">
                <p:childTnLst>
                  <p:par>
                    <p:cTn id="6001" nodeType="clickEffect">
                      <p:stCondLst>
                        <p:cond delay="0"/>
                      </p:stCondLst>
                      <p:childTnLst>
                        <p:par>
                          <p:cTn id="600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04" dur="38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05" presetID="10" presetClass="entr" presetSubtype="0" fill="hold" nodeType="withEffect">
                            <p:stCondLst>
                              <p:cond delay="90"/>
                            </p:stCondLst>
                            <p:childTnLst>
                              <p:set>
                                <p:cBhvr>
                                  <p:cTn id="60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07" dur="38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08" presetID="10" presetClass="entr" presetSubtype="0" fill="hold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6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10" dur="38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11" presetID="10" presetClass="entr" presetSubtype="0" fill="hold" nodeType="withEffect">
                            <p:stCondLst>
                              <p:cond delay="270"/>
                            </p:stCondLst>
                            <p:childTnLst>
                              <p:set>
                                <p:cBhvr>
                                  <p:cTn id="60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13" dur="38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14" presetID="10" presetClass="entr" presetSubtype="0" fill="hold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60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16" dur="38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17" presetID="10" presetClass="entr" presetSubtype="0" fill="hold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60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19" dur="38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20" presetID="10" presetClass="entr" presetSubtype="0" fill="hold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6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22" dur="38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23" presetID="10" presetClass="entr" presetSubtype="0" fill="hold" nodeType="withEffect">
                            <p:stCondLst>
                              <p:cond delay="630"/>
                            </p:stCondLst>
                            <p:childTnLst>
                              <p:set>
                                <p:cBhvr>
                                  <p:cTn id="60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25" dur="38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26" presetID="10" presetClass="entr" presetSubtype="0" fill="hold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60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28" dur="38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29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60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31" dur="38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32" presetID="10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60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34" dur="38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35" presetID="10" presetClass="entr" presetSubtype="0" fill="hold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60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37" dur="38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38" presetID="10" presetClass="entr" presetSubtype="0" fill="hold" nodeType="withEffect">
                            <p:stCondLst>
                              <p:cond delay="1080"/>
                            </p:stCondLst>
                            <p:childTnLst>
                              <p:set>
                                <p:cBhvr>
                                  <p:cTn id="60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40" dur="38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41" presetID="10" presetClass="entr" presetSubtype="0" fill="hold" nodeType="withEffect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60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43" dur="38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44" presetID="10" presetClass="entr" presetSubtype="0" fill="hold" nodeType="with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60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46" dur="38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47" presetID="10" presetClass="entr" presetSubtype="0" fill="hold" nodeType="withEffect">
                            <p:stCondLst>
                              <p:cond delay="1350"/>
                            </p:stCondLst>
                            <p:childTnLst>
                              <p:set>
                                <p:cBhvr>
                                  <p:cTn id="60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49" dur="38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50" presetID="10" presetClass="entr" presetSubtype="0" fill="hold" nodeType="withEffect">
                            <p:stCondLst>
                              <p:cond delay="1440"/>
                            </p:stCondLst>
                            <p:childTnLst>
                              <p:set>
                                <p:cBhvr>
                                  <p:cTn id="60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52" dur="38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53" presetID="10" presetClass="entr" presetSubtype="0" fill="hold" nodeType="withEffect">
                            <p:stCondLst>
                              <p:cond delay="1530"/>
                            </p:stCondLst>
                            <p:childTnLst>
                              <p:set>
                                <p:cBhvr>
                                  <p:cTn id="60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55" dur="38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56" presetID="10" presetClass="entr" presetSubtype="0" fill="hold" nodeType="withEffect">
                            <p:stCondLst>
                              <p:cond delay="1620"/>
                            </p:stCondLst>
                            <p:childTnLst>
                              <p:set>
                                <p:cBhvr>
                                  <p:cTn id="60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58" dur="38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59" presetID="10" presetClass="entr" presetSubtype="0" fill="hold" nodeType="withEffect">
                            <p:stCondLst>
                              <p:cond delay="1710"/>
                            </p:stCondLst>
                            <p:childTnLst>
                              <p:set>
                                <p:cBhvr>
                                  <p:cTn id="60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61" dur="38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62" nodeType="afterEffect">
                      <p:stCondLst>
                        <p:cond delay="250"/>
                      </p:stCondLst>
                      <p:childTnLst>
                        <p:par>
                          <p:cTn id="606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65" dur="38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66" presetID="10" presetClass="entr" presetSubtype="0" fill="hold" nodeType="withEffect">
                            <p:stCondLst>
                              <p:cond delay="90"/>
                            </p:stCondLst>
                            <p:childTnLst>
                              <p:set>
                                <p:cBhvr>
                                  <p:cTn id="60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68" dur="38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69" presetID="10" presetClass="entr" presetSubtype="0" fill="hold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60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71" dur="38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72" presetID="10" presetClass="entr" presetSubtype="0" fill="hold" nodeType="withEffect">
                            <p:stCondLst>
                              <p:cond delay="270"/>
                            </p:stCondLst>
                            <p:childTnLst>
                              <p:set>
                                <p:cBhvr>
                                  <p:cTn id="60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74" dur="38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75" presetID="10" presetClass="entr" presetSubtype="0" fill="hold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60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77" dur="38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78" presetID="10" presetClass="entr" presetSubtype="0" fill="hold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60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80" dur="38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81" presetID="10" presetClass="entr" presetSubtype="0" fill="hold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60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83" dur="38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84" presetID="10" presetClass="entr" presetSubtype="0" fill="hold" nodeType="withEffect">
                            <p:stCondLst>
                              <p:cond delay="630"/>
                            </p:stCondLst>
                            <p:childTnLst>
                              <p:set>
                                <p:cBhvr>
                                  <p:cTn id="60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86" dur="38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87" presetID="10" presetClass="entr" presetSubtype="0" fill="hold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608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89" dur="38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90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60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92" dur="38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93" presetID="10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60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95" dur="380"/>
                                  <p:tgtEl>
                                    <p:spTgt spid="4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96" presetID="10" presetClass="entr" presetSubtype="0" fill="hold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609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98" dur="380"/>
                                  <p:tgtEl>
                                    <p:spTgt spid="4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99" presetID="10" presetClass="entr" presetSubtype="0" fill="hold" nodeType="withEffect">
                            <p:stCondLst>
                              <p:cond delay="1080"/>
                            </p:stCondLst>
                            <p:childTnLst>
                              <p:set>
                                <p:cBhvr>
                                  <p:cTn id="61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01" dur="38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02" presetID="10" presetClass="entr" presetSubtype="0" fill="hold" nodeType="withEffect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61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04" dur="380"/>
                                  <p:tgtEl>
                                    <p:spTgt spid="4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05" presetID="10" presetClass="entr" presetSubtype="0" fill="hold" nodeType="with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6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07" dur="380"/>
                                  <p:tgtEl>
                                    <p:spTgt spid="4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08" presetID="10" presetClass="entr" presetSubtype="0" fill="hold" nodeType="withEffect">
                            <p:stCondLst>
                              <p:cond delay="1350"/>
                            </p:stCondLst>
                            <p:childTnLst>
                              <p:set>
                                <p:cBhvr>
                                  <p:cTn id="61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10" dur="38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11" presetID="10" presetClass="entr" presetSubtype="0" fill="hold" nodeType="withEffect">
                            <p:stCondLst>
                              <p:cond delay="1440"/>
                            </p:stCondLst>
                            <p:childTnLst>
                              <p:set>
                                <p:cBhvr>
                                  <p:cTn id="61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13" dur="380"/>
                                  <p:tgtEl>
                                    <p:spTgt spid="4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14" presetID="10" presetClass="entr" presetSubtype="0" fill="hold" nodeType="withEffect">
                            <p:stCondLst>
                              <p:cond delay="1530"/>
                            </p:stCondLst>
                            <p:childTnLst>
                              <p:set>
                                <p:cBhvr>
                                  <p:cTn id="61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16" dur="380"/>
                                  <p:tgtEl>
                                    <p:spTgt spid="4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17" presetID="10" presetClass="entr" presetSubtype="0" fill="hold" nodeType="withEffect">
                            <p:stCondLst>
                              <p:cond delay="1620"/>
                            </p:stCondLst>
                            <p:childTnLst>
                              <p:set>
                                <p:cBhvr>
                                  <p:cTn id="61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19" dur="38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20" presetID="10" presetClass="entr" presetSubtype="0" fill="hold" nodeType="withEffect">
                            <p:stCondLst>
                              <p:cond delay="1710"/>
                            </p:stCondLst>
                            <p:childTnLst>
                              <p:set>
                                <p:cBhvr>
                                  <p:cTn id="61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22" dur="380"/>
                                  <p:tgtEl>
                                    <p:spTgt spid="5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123" nodeType="afterEffect">
                      <p:stCondLst>
                        <p:cond delay="250"/>
                      </p:stCondLst>
                      <p:childTnLst>
                        <p:par>
                          <p:cTn id="612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26" dur="380"/>
                                  <p:tgtEl>
                                    <p:spTgt spid="5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27" presetID="10" presetClass="entr" presetSubtype="0" fill="hold" nodeType="withEffect">
                            <p:stCondLst>
                              <p:cond delay="90"/>
                            </p:stCondLst>
                            <p:childTnLst>
                              <p:set>
                                <p:cBhvr>
                                  <p:cTn id="61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29" dur="380"/>
                                  <p:tgtEl>
                                    <p:spTgt spid="5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30" presetID="10" presetClass="entr" presetSubtype="0" fill="hold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6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32" dur="38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33" presetID="10" presetClass="entr" presetSubtype="0" fill="hold" nodeType="withEffect">
                            <p:stCondLst>
                              <p:cond delay="270"/>
                            </p:stCondLst>
                            <p:childTnLst>
                              <p:set>
                                <p:cBhvr>
                                  <p:cTn id="61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35" dur="380"/>
                                  <p:tgtEl>
                                    <p:spTgt spid="5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36" presetID="10" presetClass="entr" presetSubtype="0" fill="hold" nodeType="withEffect">
                            <p:stCondLst>
                              <p:cond delay="360"/>
                            </p:stCondLst>
                            <p:childTnLst>
                              <p:set>
                                <p:cBhvr>
                                  <p:cTn id="61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38" dur="380"/>
                                  <p:tgtEl>
                                    <p:spTgt spid="5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39" presetID="10" presetClass="entr" presetSubtype="0" fill="hold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61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41" dur="380"/>
                                  <p:tgtEl>
                                    <p:spTgt spid="5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42" presetID="10" presetClass="entr" presetSubtype="0" fill="hold" nodeType="withEffect">
                            <p:stCondLst>
                              <p:cond delay="540"/>
                            </p:stCondLst>
                            <p:childTnLst>
                              <p:set>
                                <p:cBhvr>
                                  <p:cTn id="61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44" dur="380"/>
                                  <p:tgtEl>
                                    <p:spTgt spid="6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45" presetID="10" presetClass="entr" presetSubtype="0" fill="hold" nodeType="withEffect">
                            <p:stCondLst>
                              <p:cond delay="630"/>
                            </p:stCondLst>
                            <p:childTnLst>
                              <p:set>
                                <p:cBhvr>
                                  <p:cTn id="6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47" dur="380"/>
                                  <p:tgtEl>
                                    <p:spTgt spid="6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48" presetID="10" presetClass="entr" presetSubtype="0" fill="hold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61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50" dur="380"/>
                                  <p:tgtEl>
                                    <p:spTgt spid="6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51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61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53" dur="380"/>
                                  <p:tgtEl>
                                    <p:spTgt spid="6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54" presetID="10" presetClass="entr" presetSubtype="0" fill="hold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61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56" dur="380"/>
                                  <p:tgtEl>
                                    <p:spTgt spid="6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57" presetID="10" presetClass="entr" presetSubtype="0" fill="hold" nodeType="withEffect">
                            <p:stCondLst>
                              <p:cond delay="990"/>
                            </p:stCondLst>
                            <p:childTnLst>
                              <p:set>
                                <p:cBhvr>
                                  <p:cTn id="61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59" dur="380"/>
                                  <p:tgtEl>
                                    <p:spTgt spid="6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60" presetID="10" presetClass="entr" presetSubtype="0" fill="hold" nodeType="withEffect">
                            <p:stCondLst>
                              <p:cond delay="1080"/>
                            </p:stCondLst>
                            <p:childTnLst>
                              <p:set>
                                <p:cBhvr>
                                  <p:cTn id="61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62" dur="380"/>
                                  <p:tgtEl>
                                    <p:spTgt spid="6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63" presetID="10" presetClass="entr" presetSubtype="0" fill="hold" nodeType="withEffect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61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65" dur="380"/>
                                  <p:tgtEl>
                                    <p:spTgt spid="6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66" presetID="10" presetClass="entr" presetSubtype="0" fill="hold" nodeType="with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61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68" dur="380"/>
                                  <p:tgtEl>
                                    <p:spTgt spid="7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69" presetID="10" presetClass="entr" presetSubtype="0" fill="hold" nodeType="withEffect">
                            <p:stCondLst>
                              <p:cond delay="1350"/>
                            </p:stCondLst>
                            <p:childTnLst>
                              <p:set>
                                <p:cBhvr>
                                  <p:cTn id="61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71" dur="380"/>
                                  <p:tgtEl>
                                    <p:spTgt spid="7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72" presetID="10" presetClass="entr" presetSubtype="0" fill="hold" nodeType="withEffect">
                            <p:stCondLst>
                              <p:cond delay="1440"/>
                            </p:stCondLst>
                            <p:childTnLst>
                              <p:set>
                                <p:cBhvr>
                                  <p:cTn id="61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74" dur="380"/>
                                  <p:tgtEl>
                                    <p:spTgt spid="7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75" presetID="10" presetClass="entr" presetSubtype="0" fill="hold" nodeType="withEffect">
                            <p:stCondLst>
                              <p:cond delay="1530"/>
                            </p:stCondLst>
                            <p:childTnLst>
                              <p:set>
                                <p:cBhvr>
                                  <p:cTn id="61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77" dur="380"/>
                                  <p:tgtEl>
                                    <p:spTgt spid="7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78" presetID="10" presetClass="entr" presetSubtype="0" fill="hold" nodeType="withEffect">
                            <p:stCondLst>
                              <p:cond delay="1620"/>
                            </p:stCondLst>
                            <p:childTnLst>
                              <p:set>
                                <p:cBhvr>
                                  <p:cTn id="61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80" dur="380"/>
                                  <p:tgtEl>
                                    <p:spTgt spid="7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81" presetID="10" presetClass="entr" presetSubtype="0" fill="hold" nodeType="withEffect">
                            <p:stCondLst>
                              <p:cond delay="1710"/>
                            </p:stCondLst>
                            <p:childTnLst>
                              <p:set>
                                <p:cBhvr>
                                  <p:cTn id="61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83" dur="380"/>
                                  <p:tgtEl>
                                    <p:spTgt spid="7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184" nodeType="afterEffect">
                      <p:stCondLst>
                        <p:cond delay="200"/>
                      </p:stCondLst>
                      <p:childTnLst>
                        <p:par>
                          <p:cTn id="618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87" dur="350"/>
                                  <p:tgtEl>
                                    <p:spTgt spid="7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8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90" dur="350"/>
                                  <p:tgtEl>
                                    <p:spTgt spid="7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9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93" dur="350"/>
                                  <p:tgtEl>
                                    <p:spTgt spid="7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9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96" dur="350"/>
                                  <p:tgtEl>
                                    <p:spTgt spid="8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A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in Action - From Query to Answer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TRACE - A REAL QUERY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00784"/>
            <a:ext cx="5577840" cy="576072"/>
          </a:xfrm>
          <a:prstGeom prst="roundRect">
            <a:avLst>
              <a:gd name="adj" fmla="val 12698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851660"/>
            <a:ext cx="274320" cy="274320"/>
          </a:xfrm>
          <a:prstGeom prst="ellipse">
            <a:avLst/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pic>
        <p:nvPicPr>
          <p:cNvPr id="7" name="Image 0" descr="/home/claude/build/assets/icon_user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" y="1911096"/>
            <a:ext cx="155448" cy="1554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9536" y="2258568"/>
            <a:ext cx="0" cy="91440"/>
          </a:xfrm>
          <a:prstGeom prst="line">
            <a:avLst/>
          </a:prstGeom>
          <a:noFill/>
          <a:ln w="12700">
            <a:solidFill>
              <a:srgbClr val="2E3A52"/>
            </a:solidFill>
            <a:prstDash val="solid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1115568" y="176479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115568" y="2002536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I reset my password?"</a:t>
            </a:r>
            <a:endParaRPr lang="en-US" sz="870" dirty="0"/>
          </a:p>
        </p:txBody>
      </p:sp>
      <p:sp>
        <p:nvSpPr>
          <p:cNvPr id="11" name="Shape 8"/>
          <p:cNvSpPr/>
          <p:nvPr/>
        </p:nvSpPr>
        <p:spPr>
          <a:xfrm>
            <a:off x="548640" y="2331720"/>
            <a:ext cx="5577840" cy="576072"/>
          </a:xfrm>
          <a:prstGeom prst="roundRect">
            <a:avLst>
              <a:gd name="adj" fmla="val 12698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22376" y="2482596"/>
            <a:ext cx="274320" cy="274320"/>
          </a:xfrm>
          <a:prstGeom prst="ellipse">
            <a:avLst/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pic>
        <p:nvPicPr>
          <p:cNvPr id="13" name="Image 1" descr="/home/claude/build/assets/icon_sliders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2542032"/>
            <a:ext cx="155448" cy="15544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59536" y="2889504"/>
            <a:ext cx="0" cy="91440"/>
          </a:xfrm>
          <a:prstGeom prst="line">
            <a:avLst/>
          </a:prstGeom>
          <a:noFill/>
          <a:ln w="12700">
            <a:solidFill>
              <a:srgbClr val="2E3A52"/>
            </a:solidFill>
            <a:prstDash val="solid"/>
            <a:tailEnd type="triangle"/>
          </a:ln>
        </p:spPr>
      </p:sp>
      <p:sp>
        <p:nvSpPr>
          <p:cNvPr id="15" name="Text 11"/>
          <p:cNvSpPr/>
          <p:nvPr/>
        </p:nvSpPr>
        <p:spPr>
          <a:xfrm>
            <a:off x="1115568" y="2395728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query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115568" y="263347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rule/LLM-rewritten, self-contained</a:t>
            </a:r>
            <a:endParaRPr lang="en-US" sz="870" dirty="0"/>
          </a:p>
        </p:txBody>
      </p:sp>
      <p:sp>
        <p:nvSpPr>
          <p:cNvPr id="17" name="Shape 13"/>
          <p:cNvSpPr/>
          <p:nvPr/>
        </p:nvSpPr>
        <p:spPr>
          <a:xfrm>
            <a:off x="548640" y="2962656"/>
            <a:ext cx="5577840" cy="576072"/>
          </a:xfrm>
          <a:prstGeom prst="roundRect">
            <a:avLst>
              <a:gd name="adj" fmla="val 12698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22376" y="3113532"/>
            <a:ext cx="274320" cy="274320"/>
          </a:xfrm>
          <a:prstGeom prst="ellipse">
            <a:avLst/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pic>
        <p:nvPicPr>
          <p:cNvPr id="19" name="Image 2" descr="/home/claude/build/assets/icon_search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3172968"/>
            <a:ext cx="155448" cy="15544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59536" y="3520440"/>
            <a:ext cx="0" cy="91440"/>
          </a:xfrm>
          <a:prstGeom prst="line">
            <a:avLst/>
          </a:prstGeom>
          <a:noFill/>
          <a:ln w="12700">
            <a:solidFill>
              <a:srgbClr val="2E3A52"/>
            </a:solidFill>
            <a:prstDash val="solid"/>
            <a:tailEnd type="triangle"/>
          </a:ln>
        </p:spPr>
      </p:sp>
      <p:sp>
        <p:nvSpPr>
          <p:cNvPr id="21" name="Text 16"/>
          <p:cNvSpPr/>
          <p:nvPr/>
        </p:nvSpPr>
        <p:spPr>
          <a:xfrm>
            <a:off x="1115568" y="302666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scored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115568" y="3264408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vector score per chunk</a:t>
            </a:r>
            <a:endParaRPr lang="en-US" sz="870" dirty="0"/>
          </a:p>
        </p:txBody>
      </p:sp>
      <p:sp>
        <p:nvSpPr>
          <p:cNvPr id="23" name="Shape 18"/>
          <p:cNvSpPr/>
          <p:nvPr/>
        </p:nvSpPr>
        <p:spPr>
          <a:xfrm>
            <a:off x="548640" y="3593592"/>
            <a:ext cx="5577840" cy="576072"/>
          </a:xfrm>
          <a:prstGeom prst="roundRect">
            <a:avLst>
              <a:gd name="adj" fmla="val 12698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22376" y="3744468"/>
            <a:ext cx="274320" cy="274320"/>
          </a:xfrm>
          <a:prstGeom prst="ellipse">
            <a:avLst/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pic>
        <p:nvPicPr>
          <p:cNvPr id="25" name="Image 3" descr="/home/claude/build/assets/icon_checkcircle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3803904"/>
            <a:ext cx="155448" cy="155448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859536" y="4151376"/>
            <a:ext cx="0" cy="91440"/>
          </a:xfrm>
          <a:prstGeom prst="line">
            <a:avLst/>
          </a:prstGeom>
          <a:noFill/>
          <a:ln w="12700">
            <a:solidFill>
              <a:srgbClr val="2E3A52"/>
            </a:solidFill>
            <a:prstDash val="solid"/>
            <a:tailEnd type="triangle"/>
          </a:ln>
        </p:spPr>
      </p:sp>
      <p:sp>
        <p:nvSpPr>
          <p:cNvPr id="27" name="Text 21"/>
          <p:cNvSpPr/>
          <p:nvPr/>
        </p:nvSpPr>
        <p:spPr>
          <a:xfrm>
            <a:off x="1115568" y="3657600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fused &amp; reranked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1115568" y="389534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cross-encoder relevance order</a:t>
            </a:r>
            <a:endParaRPr lang="en-US" sz="870" dirty="0"/>
          </a:p>
        </p:txBody>
      </p:sp>
      <p:sp>
        <p:nvSpPr>
          <p:cNvPr id="29" name="Shape 23"/>
          <p:cNvSpPr/>
          <p:nvPr/>
        </p:nvSpPr>
        <p:spPr>
          <a:xfrm>
            <a:off x="548640" y="4224528"/>
            <a:ext cx="5577840" cy="576072"/>
          </a:xfrm>
          <a:prstGeom prst="roundRect">
            <a:avLst>
              <a:gd name="adj" fmla="val 12698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22376" y="4375404"/>
            <a:ext cx="274320" cy="274320"/>
          </a:xfrm>
          <a:prstGeom prst="ellipse">
            <a:avLst/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pic>
        <p:nvPicPr>
          <p:cNvPr id="31" name="Image 4" descr="/home/claude/build/assets/icon_filter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" y="4434840"/>
            <a:ext cx="155448" cy="155448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859536" y="4782312"/>
            <a:ext cx="0" cy="91440"/>
          </a:xfrm>
          <a:prstGeom prst="line">
            <a:avLst/>
          </a:prstGeom>
          <a:noFill/>
          <a:ln w="12700">
            <a:solidFill>
              <a:srgbClr val="2E3A52"/>
            </a:solidFill>
            <a:prstDash val="solid"/>
            <a:tailEnd type="triangle"/>
          </a:ln>
        </p:spPr>
      </p:sp>
      <p:sp>
        <p:nvSpPr>
          <p:cNvPr id="33" name="Text 26"/>
          <p:cNvSpPr/>
          <p:nvPr/>
        </p:nvSpPr>
        <p:spPr>
          <a:xfrm>
            <a:off x="1115568" y="4288536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selected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1115568" y="4526280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chunks above 0.15 threshold, deduped</a:t>
            </a:r>
            <a:endParaRPr lang="en-US" sz="870" dirty="0"/>
          </a:p>
        </p:txBody>
      </p:sp>
      <p:sp>
        <p:nvSpPr>
          <p:cNvPr id="35" name="Shape 28"/>
          <p:cNvSpPr/>
          <p:nvPr/>
        </p:nvSpPr>
        <p:spPr>
          <a:xfrm>
            <a:off x="548640" y="4855464"/>
            <a:ext cx="5577840" cy="576072"/>
          </a:xfrm>
          <a:prstGeom prst="roundRect">
            <a:avLst>
              <a:gd name="adj" fmla="val 12698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722376" y="5006340"/>
            <a:ext cx="274320" cy="274320"/>
          </a:xfrm>
          <a:prstGeom prst="ellipse">
            <a:avLst/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pic>
        <p:nvPicPr>
          <p:cNvPr id="37" name="Image 5" descr="/home/claude/build/assets/icon_message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" y="5065776"/>
            <a:ext cx="155448" cy="155448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59536" y="5413248"/>
            <a:ext cx="0" cy="91440"/>
          </a:xfrm>
          <a:prstGeom prst="line">
            <a:avLst/>
          </a:prstGeom>
          <a:noFill/>
          <a:ln w="12700">
            <a:solidFill>
              <a:srgbClr val="2E3A52"/>
            </a:solidFill>
            <a:prstDash val="solid"/>
            <a:tailEnd type="triangle"/>
          </a:ln>
        </p:spPr>
      </p:sp>
      <p:sp>
        <p:nvSpPr>
          <p:cNvPr id="39" name="Text 31"/>
          <p:cNvSpPr/>
          <p:nvPr/>
        </p:nvSpPr>
        <p:spPr>
          <a:xfrm>
            <a:off x="1115568" y="491947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assembled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1115568" y="5157216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history + question → LLM</a:t>
            </a:r>
            <a:endParaRPr lang="en-US" sz="870" dirty="0"/>
          </a:p>
        </p:txBody>
      </p:sp>
      <p:sp>
        <p:nvSpPr>
          <p:cNvPr id="41" name="Shape 33"/>
          <p:cNvSpPr/>
          <p:nvPr/>
        </p:nvSpPr>
        <p:spPr>
          <a:xfrm>
            <a:off x="548640" y="5486400"/>
            <a:ext cx="5577840" cy="576072"/>
          </a:xfrm>
          <a:prstGeom prst="roundRect">
            <a:avLst>
              <a:gd name="adj" fmla="val 12698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722376" y="5637276"/>
            <a:ext cx="274320" cy="274320"/>
          </a:xfrm>
          <a:prstGeom prst="ellipse">
            <a:avLst/>
          </a:prstGeom>
          <a:solidFill>
            <a:srgbClr val="1B3A47"/>
          </a:solidFill>
          <a:ln w="12700">
            <a:solidFill>
              <a:srgbClr val="6EE7F9"/>
            </a:solidFill>
            <a:prstDash val="solid"/>
          </a:ln>
        </p:spPr>
      </p:sp>
      <p:pic>
        <p:nvPicPr>
          <p:cNvPr id="43" name="Image 6" descr="/home/claude/build/assets/icon_send_cy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812" y="5696712"/>
            <a:ext cx="155448" cy="155448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1115568" y="5550408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backend tag</a:t>
            </a:r>
            <a:endParaRPr lang="en-US" sz="1050" dirty="0"/>
          </a:p>
        </p:txBody>
      </p:sp>
      <p:sp>
        <p:nvSpPr>
          <p:cNvPr id="45" name="Text 36"/>
          <p:cNvSpPr/>
          <p:nvPr/>
        </p:nvSpPr>
        <p:spPr>
          <a:xfrm>
            <a:off x="1115568" y="578815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answer, shows which backend replied</a:t>
            </a:r>
            <a:endParaRPr lang="en-US" sz="870" dirty="0"/>
          </a:p>
        </p:txBody>
      </p:sp>
      <p:sp>
        <p:nvSpPr>
          <p:cNvPr id="46" name="Text 37"/>
          <p:cNvSpPr/>
          <p:nvPr/>
        </p:nvSpPr>
        <p:spPr>
          <a:xfrm>
            <a:off x="6446520" y="1371600"/>
            <a:ext cx="51965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↔ IMPLEMENTATION</a:t>
            </a:r>
            <a:endParaRPr lang="en-US" sz="1000" dirty="0"/>
          </a:p>
        </p:txBody>
      </p:sp>
      <p:sp>
        <p:nvSpPr>
          <p:cNvPr id="47" name="Shape 38"/>
          <p:cNvSpPr/>
          <p:nvPr/>
        </p:nvSpPr>
        <p:spPr>
          <a:xfrm>
            <a:off x="6446520" y="1700784"/>
            <a:ext cx="5196535" cy="562356"/>
          </a:xfrm>
          <a:prstGeom prst="roundRect">
            <a:avLst>
              <a:gd name="adj" fmla="val 13008"/>
            </a:avLst>
          </a:prstGeom>
          <a:solidFill>
            <a:srgbClr val="10141F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6611112" y="1936242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9" name="Text 40"/>
          <p:cNvSpPr/>
          <p:nvPr/>
        </p:nvSpPr>
        <p:spPr>
          <a:xfrm>
            <a:off x="6812280" y="1764792"/>
            <a:ext cx="46936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000" dirty="0"/>
          </a:p>
        </p:txBody>
      </p:sp>
      <p:sp>
        <p:nvSpPr>
          <p:cNvPr id="50" name="Text 41"/>
          <p:cNvSpPr/>
          <p:nvPr/>
        </p:nvSpPr>
        <p:spPr>
          <a:xfrm>
            <a:off x="6812280" y="1984248"/>
            <a:ext cx="46936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app/rag/retriever.py - BM25Okapi + ChromaDB query, weighted RRF fusion</a:t>
            </a:r>
            <a:endParaRPr lang="en-US" sz="820" dirty="0"/>
          </a:p>
        </p:txBody>
      </p:sp>
      <p:sp>
        <p:nvSpPr>
          <p:cNvPr id="51" name="Shape 42"/>
          <p:cNvSpPr/>
          <p:nvPr/>
        </p:nvSpPr>
        <p:spPr>
          <a:xfrm>
            <a:off x="6446520" y="2331720"/>
            <a:ext cx="5196535" cy="562356"/>
          </a:xfrm>
          <a:prstGeom prst="roundRect">
            <a:avLst>
              <a:gd name="adj" fmla="val 13008"/>
            </a:avLst>
          </a:prstGeom>
          <a:solidFill>
            <a:srgbClr val="10141F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6611112" y="2567178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53" name="Text 44"/>
          <p:cNvSpPr/>
          <p:nvPr/>
        </p:nvSpPr>
        <p:spPr>
          <a:xfrm>
            <a:off x="6812280" y="2395728"/>
            <a:ext cx="46936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1000" dirty="0"/>
          </a:p>
        </p:txBody>
      </p:sp>
      <p:sp>
        <p:nvSpPr>
          <p:cNvPr id="54" name="Text 45"/>
          <p:cNvSpPr/>
          <p:nvPr/>
        </p:nvSpPr>
        <p:spPr>
          <a:xfrm>
            <a:off x="6812280" y="2615184"/>
            <a:ext cx="46936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app/rag/context_builder.py - NVIDIA nv-rerankqa call, sigmoid-scored</a:t>
            </a:r>
            <a:endParaRPr lang="en-US" sz="820" dirty="0"/>
          </a:p>
        </p:txBody>
      </p:sp>
      <p:sp>
        <p:nvSpPr>
          <p:cNvPr id="55" name="Shape 46"/>
          <p:cNvSpPr/>
          <p:nvPr/>
        </p:nvSpPr>
        <p:spPr>
          <a:xfrm>
            <a:off x="6446520" y="2962656"/>
            <a:ext cx="5196535" cy="562356"/>
          </a:xfrm>
          <a:prstGeom prst="roundRect">
            <a:avLst>
              <a:gd name="adj" fmla="val 13008"/>
            </a:avLst>
          </a:prstGeom>
          <a:solidFill>
            <a:srgbClr val="10141F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6611112" y="3198114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57" name="Text 48"/>
          <p:cNvSpPr/>
          <p:nvPr/>
        </p:nvSpPr>
        <p:spPr>
          <a:xfrm>
            <a:off x="6812280" y="3026664"/>
            <a:ext cx="46936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Build</a:t>
            </a:r>
            <a:endParaRPr lang="en-US" sz="1000" dirty="0"/>
          </a:p>
        </p:txBody>
      </p:sp>
      <p:sp>
        <p:nvSpPr>
          <p:cNvPr id="58" name="Text 49"/>
          <p:cNvSpPr/>
          <p:nvPr/>
        </p:nvSpPr>
        <p:spPr>
          <a:xfrm>
            <a:off x="6812280" y="3246120"/>
            <a:ext cx="46936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context_builder.py - threshold filter, near-dup removal, top-N limit</a:t>
            </a:r>
            <a:endParaRPr lang="en-US" sz="820" dirty="0"/>
          </a:p>
        </p:txBody>
      </p:sp>
      <p:sp>
        <p:nvSpPr>
          <p:cNvPr id="59" name="Shape 50"/>
          <p:cNvSpPr/>
          <p:nvPr/>
        </p:nvSpPr>
        <p:spPr>
          <a:xfrm>
            <a:off x="6446520" y="3593592"/>
            <a:ext cx="5196535" cy="562356"/>
          </a:xfrm>
          <a:prstGeom prst="roundRect">
            <a:avLst>
              <a:gd name="adj" fmla="val 13008"/>
            </a:avLst>
          </a:prstGeom>
          <a:solidFill>
            <a:srgbClr val="10141F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60" name="Shape 51"/>
          <p:cNvSpPr/>
          <p:nvPr/>
        </p:nvSpPr>
        <p:spPr>
          <a:xfrm>
            <a:off x="6611112" y="3829050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1" name="Text 52"/>
          <p:cNvSpPr/>
          <p:nvPr/>
        </p:nvSpPr>
        <p:spPr>
          <a:xfrm>
            <a:off x="6812280" y="3657600"/>
            <a:ext cx="46936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000" dirty="0"/>
          </a:p>
        </p:txBody>
      </p:sp>
      <p:sp>
        <p:nvSpPr>
          <p:cNvPr id="62" name="Text 53"/>
          <p:cNvSpPr/>
          <p:nvPr/>
        </p:nvSpPr>
        <p:spPr>
          <a:xfrm>
            <a:off x="6812280" y="3877056"/>
            <a:ext cx="46936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app/rag/vector_store.py - ChromaDB persistent client</a:t>
            </a:r>
            <a:endParaRPr lang="en-US" sz="820" dirty="0"/>
          </a:p>
        </p:txBody>
      </p:sp>
      <p:sp>
        <p:nvSpPr>
          <p:cNvPr id="63" name="Shape 54"/>
          <p:cNvSpPr/>
          <p:nvPr/>
        </p:nvSpPr>
        <p:spPr>
          <a:xfrm>
            <a:off x="6446520" y="4224528"/>
            <a:ext cx="5196535" cy="562356"/>
          </a:xfrm>
          <a:prstGeom prst="roundRect">
            <a:avLst>
              <a:gd name="adj" fmla="val 13008"/>
            </a:avLst>
          </a:prstGeom>
          <a:solidFill>
            <a:srgbClr val="10141F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64" name="Shape 55"/>
          <p:cNvSpPr/>
          <p:nvPr/>
        </p:nvSpPr>
        <p:spPr>
          <a:xfrm>
            <a:off x="6611112" y="4459986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5" name="Text 56"/>
          <p:cNvSpPr/>
          <p:nvPr/>
        </p:nvSpPr>
        <p:spPr>
          <a:xfrm>
            <a:off x="6812280" y="4288536"/>
            <a:ext cx="46936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Generation</a:t>
            </a:r>
            <a:endParaRPr lang="en-US" sz="1000" dirty="0"/>
          </a:p>
        </p:txBody>
      </p:sp>
      <p:sp>
        <p:nvSpPr>
          <p:cNvPr id="66" name="Text 57"/>
          <p:cNvSpPr/>
          <p:nvPr/>
        </p:nvSpPr>
        <p:spPr>
          <a:xfrm>
            <a:off x="6812280" y="4507992"/>
            <a:ext cx="46936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app/llm/gateway_client.py - Key Gateway chat completion</a:t>
            </a:r>
            <a:endParaRPr lang="en-US" sz="820" dirty="0"/>
          </a:p>
        </p:txBody>
      </p:sp>
      <p:sp>
        <p:nvSpPr>
          <p:cNvPr id="67" name="Shape 58"/>
          <p:cNvSpPr/>
          <p:nvPr/>
        </p:nvSpPr>
        <p:spPr>
          <a:xfrm>
            <a:off x="6446520" y="4855464"/>
            <a:ext cx="5196535" cy="562356"/>
          </a:xfrm>
          <a:prstGeom prst="roundRect">
            <a:avLst>
              <a:gd name="adj" fmla="val 13008"/>
            </a:avLst>
          </a:prstGeom>
          <a:solidFill>
            <a:srgbClr val="10141F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68" name="Shape 59"/>
          <p:cNvSpPr/>
          <p:nvPr/>
        </p:nvSpPr>
        <p:spPr>
          <a:xfrm>
            <a:off x="6611112" y="5090922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9" name="Text 60"/>
          <p:cNvSpPr/>
          <p:nvPr/>
        </p:nvSpPr>
        <p:spPr>
          <a:xfrm>
            <a:off x="6812280" y="4919472"/>
            <a:ext cx="46936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Trace</a:t>
            </a:r>
            <a:endParaRPr lang="en-US" sz="1000" dirty="0"/>
          </a:p>
        </p:txBody>
      </p:sp>
      <p:sp>
        <p:nvSpPr>
          <p:cNvPr id="70" name="Text 61"/>
          <p:cNvSpPr/>
          <p:nvPr/>
        </p:nvSpPr>
        <p:spPr>
          <a:xfrm>
            <a:off x="6812280" y="5138928"/>
            <a:ext cx="46936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stage's inputs/scores stored per message, surfaced in the UI</a:t>
            </a:r>
            <a:endParaRPr lang="en-US" sz="820" dirty="0"/>
          </a:p>
        </p:txBody>
      </p:sp>
      <p:sp>
        <p:nvSpPr>
          <p:cNvPr id="71" name="Text 62"/>
          <p:cNvSpPr/>
          <p:nvPr/>
        </p:nvSpPr>
        <p:spPr>
          <a:xfrm>
            <a:off x="6446520" y="5559552"/>
            <a:ext cx="5196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6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architecture component on Slide 2 corresponds to a real module in the codebase - nothing on this deck is aspirational.</a:t>
            </a:r>
            <a:endParaRPr lang="en-US" sz="860" dirty="0"/>
          </a:p>
        </p:txBody>
      </p:sp>
      <p:sp>
        <p:nvSpPr>
          <p:cNvPr id="72" name="Text 63"/>
          <p:cNvSpPr/>
          <p:nvPr/>
        </p:nvSpPr>
        <p:spPr>
          <a:xfrm>
            <a:off x="548640" y="6291072"/>
            <a:ext cx="110944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UI walkthrough (chat, source cards, debug trace panel) is demoed from the running app.</a:t>
            </a:r>
            <a:endParaRPr lang="en-US" sz="830" dirty="0"/>
          </a:p>
        </p:txBody>
      </p:sp>
      <p:sp>
        <p:nvSpPr>
          <p:cNvPr id="73" name="Text 64"/>
          <p:cNvSpPr/>
          <p:nvPr/>
        </p:nvSpPr>
        <p:spPr>
          <a:xfrm>
            <a:off x="10820095" y="64739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6183" dur="indefinite" restart="never" nodeType="tmRoot">
          <p:childTnLst>
            <p:seq concat="0" nextAc="seek">
              <p:cTn id="6184" dur="indefinite" nodeType="mainSeq">
                <p:childTnLst>
                  <p:par>
                    <p:cTn id="6001" nodeType="clickEffect">
                      <p:stCondLst>
                        <p:cond delay="0"/>
                      </p:stCondLst>
                      <p:childTnLst>
                        <p:par>
                          <p:cTn id="600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04" dur="3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0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07" dur="3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0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10" dur="3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1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13" dur="3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1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16" dur="3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17" nodeType="afterEffect">
                      <p:stCondLst>
                        <p:cond delay="90"/>
                      </p:stCondLst>
                      <p:childTnLst>
                        <p:par>
                          <p:cTn id="601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20" dur="3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2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23" dur="3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2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26" dur="3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2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29" dur="3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3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32" dur="3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33" nodeType="afterEffect">
                      <p:stCondLst>
                        <p:cond delay="90"/>
                      </p:stCondLst>
                      <p:childTnLst>
                        <p:par>
                          <p:cTn id="603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36" dur="3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3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39" dur="3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42" dur="35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4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45" dur="3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4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48" dur="3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49" nodeType="afterEffect">
                      <p:stCondLst>
                        <p:cond delay="90"/>
                      </p:stCondLst>
                      <p:childTnLst>
                        <p:par>
                          <p:cTn id="605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52" dur="35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5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55" dur="35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5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58" dur="35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5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61" dur="35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6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64" dur="35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65" nodeType="afterEffect">
                      <p:stCondLst>
                        <p:cond delay="90"/>
                      </p:stCondLst>
                      <p:childTnLst>
                        <p:par>
                          <p:cTn id="606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68" dur="35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6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71" dur="35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7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74" dur="35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7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77" dur="35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7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80" dur="35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81" nodeType="afterEffect">
                      <p:stCondLst>
                        <p:cond delay="90"/>
                      </p:stCondLst>
                      <p:childTnLst>
                        <p:par>
                          <p:cTn id="608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84" dur="35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8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87" dur="35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8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90" dur="35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9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93" dur="35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9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96" dur="35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97" nodeType="afterEffect">
                      <p:stCondLst>
                        <p:cond delay="150"/>
                      </p:stCondLst>
                      <p:childTnLst>
                        <p:par>
                          <p:cTn id="609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9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00" dur="35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0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0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03" dur="350"/>
                                  <p:tgtEl>
                                    <p:spTgt spid="4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0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06" dur="350"/>
                                  <p:tgtEl>
                                    <p:spTgt spid="4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0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0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09" dur="350"/>
                                  <p:tgtEl>
                                    <p:spTgt spid="5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110" nodeType="afterEffect">
                      <p:stCondLst>
                        <p:cond delay="90"/>
                      </p:stCondLst>
                      <p:childTnLst>
                        <p:par>
                          <p:cTn id="611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13" dur="35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1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16" dur="350"/>
                                  <p:tgtEl>
                                    <p:spTgt spid="5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1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19" dur="350"/>
                                  <p:tgtEl>
                                    <p:spTgt spid="5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22" dur="350"/>
                                  <p:tgtEl>
                                    <p:spTgt spid="5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123" nodeType="afterEffect">
                      <p:stCondLst>
                        <p:cond delay="90"/>
                      </p:stCondLst>
                      <p:childTnLst>
                        <p:par>
                          <p:cTn id="612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26" dur="35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2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29" dur="350"/>
                                  <p:tgtEl>
                                    <p:spTgt spid="5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3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32" dur="350"/>
                                  <p:tgtEl>
                                    <p:spTgt spid="5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3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35" dur="350"/>
                                  <p:tgtEl>
                                    <p:spTgt spid="5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136" nodeType="afterEffect">
                      <p:stCondLst>
                        <p:cond delay="90"/>
                      </p:stCondLst>
                      <p:childTnLst>
                        <p:par>
                          <p:cTn id="613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39" dur="350"/>
                                  <p:tgtEl>
                                    <p:spTgt spid="5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42" dur="350"/>
                                  <p:tgtEl>
                                    <p:spTgt spid="6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4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45" dur="350"/>
                                  <p:tgtEl>
                                    <p:spTgt spid="6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4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48" dur="350"/>
                                  <p:tgtEl>
                                    <p:spTgt spid="6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149" nodeType="afterEffect">
                      <p:stCondLst>
                        <p:cond delay="90"/>
                      </p:stCondLst>
                      <p:childTnLst>
                        <p:par>
                          <p:cTn id="615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52" dur="350"/>
                                  <p:tgtEl>
                                    <p:spTgt spid="6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5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55" dur="350"/>
                                  <p:tgtEl>
                                    <p:spTgt spid="6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5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58" dur="350"/>
                                  <p:tgtEl>
                                    <p:spTgt spid="6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5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61" dur="350"/>
                                  <p:tgtEl>
                                    <p:spTgt spid="6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162" nodeType="afterEffect">
                      <p:stCondLst>
                        <p:cond delay="90"/>
                      </p:stCondLst>
                      <p:childTnLst>
                        <p:par>
                          <p:cTn id="616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65" dur="350"/>
                                  <p:tgtEl>
                                    <p:spTgt spid="6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6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68" dur="350"/>
                                  <p:tgtEl>
                                    <p:spTgt spid="6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6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71" dur="350"/>
                                  <p:tgtEl>
                                    <p:spTgt spid="6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7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74" dur="350"/>
                                  <p:tgtEl>
                                    <p:spTgt spid="7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175" nodeType="afterEffect">
                      <p:stCondLst>
                        <p:cond delay="150"/>
                      </p:stCondLst>
                      <p:childTnLst>
                        <p:par>
                          <p:cTn id="617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78" dur="400"/>
                                  <p:tgtEl>
                                    <p:spTgt spid="7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179" nodeType="afterEffect">
                      <p:stCondLst>
                        <p:cond delay="100"/>
                      </p:stCondLst>
                      <p:childTnLst>
                        <p:par>
                          <p:cTn id="618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82" dur="400"/>
                                  <p:tgtEl>
                                    <p:spTgt spid="7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DECISIONS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A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Technologies?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choice weighed against real alternatives - not selected because it's popular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2072579" cy="4873752"/>
          </a:xfrm>
          <a:prstGeom prst="roundRect">
            <a:avLst>
              <a:gd name="adj" fmla="val 4412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4944" y="1645920"/>
            <a:ext cx="177997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70" b="1" spc="14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870" dirty="0"/>
          </a:p>
        </p:txBody>
      </p:sp>
      <p:pic>
        <p:nvPicPr>
          <p:cNvPr id="7" name="Image 0" descr="/home/claude/build/assets/icon_cpu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0116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" y="2450592"/>
            <a:ext cx="177997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3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nv-embedqa-e5-v5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94944" y="3127248"/>
            <a:ext cx="177997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OpenAI text-embedding-3, local MiniLM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694944" y="3694176"/>
            <a:ext cx="1779971" cy="0"/>
          </a:xfrm>
          <a:prstGeom prst="line">
            <a:avLst/>
          </a:prstGeom>
          <a:noFill/>
          <a:ln w="9525">
            <a:solidFill>
              <a:srgbClr val="232D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" y="3813048"/>
            <a:ext cx="1779971" cy="23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6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query/passage embeddings purpose-built for QA retrieval, served from the same NVIDIA NIM credential as the reranker - one provider, one integration path.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2804099" y="1481328"/>
            <a:ext cx="2072579" cy="4873752"/>
          </a:xfrm>
          <a:prstGeom prst="roundRect">
            <a:avLst>
              <a:gd name="adj" fmla="val 4412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950403" y="1645920"/>
            <a:ext cx="177997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70" b="1" spc="14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70" dirty="0"/>
          </a:p>
        </p:txBody>
      </p:sp>
      <p:pic>
        <p:nvPicPr>
          <p:cNvPr id="14" name="Image 1" descr="/home/claude/build/assets/icon_react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0403" y="20116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50403" y="2450592"/>
            <a:ext cx="177997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3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950403" y="3127248"/>
            <a:ext cx="177997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Angular, Vue</a:t>
            </a:r>
            <a:endParaRPr lang="en-US" sz="820" dirty="0"/>
          </a:p>
        </p:txBody>
      </p:sp>
      <p:sp>
        <p:nvSpPr>
          <p:cNvPr id="17" name="Shape 13"/>
          <p:cNvSpPr/>
          <p:nvPr/>
        </p:nvSpPr>
        <p:spPr>
          <a:xfrm>
            <a:off x="2950403" y="3694176"/>
            <a:ext cx="1779971" cy="0"/>
          </a:xfrm>
          <a:prstGeom prst="line">
            <a:avLst/>
          </a:prstGeom>
          <a:noFill/>
          <a:ln w="9525">
            <a:solidFill>
              <a:srgbClr val="232D4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950403" y="3813048"/>
            <a:ext cx="1779971" cy="23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6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model fits a streaming chat UI naturally - message bubbles, source cards, and a debug panel as independent, reusable components with fast local dev via Vite.</a:t>
            </a:r>
            <a:endParaRPr lang="en-US" sz="860" dirty="0"/>
          </a:p>
        </p:txBody>
      </p:sp>
      <p:sp>
        <p:nvSpPr>
          <p:cNvPr id="19" name="Shape 15"/>
          <p:cNvSpPr/>
          <p:nvPr/>
        </p:nvSpPr>
        <p:spPr>
          <a:xfrm>
            <a:off x="5059558" y="1481328"/>
            <a:ext cx="2072579" cy="4873752"/>
          </a:xfrm>
          <a:prstGeom prst="roundRect">
            <a:avLst>
              <a:gd name="adj" fmla="val 4412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5205862" y="1645920"/>
            <a:ext cx="177997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70" b="1" spc="14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</a:t>
            </a:r>
            <a:endParaRPr lang="en-US" sz="870" dirty="0"/>
          </a:p>
        </p:txBody>
      </p:sp>
      <p:pic>
        <p:nvPicPr>
          <p:cNvPr id="21" name="Image 2" descr="/home/claude/build/assets/icon_server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5862" y="201168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05862" y="2450592"/>
            <a:ext cx="177997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3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5205862" y="3127248"/>
            <a:ext cx="177997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Flask, Django</a:t>
            </a:r>
            <a:endParaRPr lang="en-US" sz="820" dirty="0"/>
          </a:p>
        </p:txBody>
      </p:sp>
      <p:sp>
        <p:nvSpPr>
          <p:cNvPr id="24" name="Shape 19"/>
          <p:cNvSpPr/>
          <p:nvPr/>
        </p:nvSpPr>
        <p:spPr>
          <a:xfrm>
            <a:off x="5205862" y="3694176"/>
            <a:ext cx="1779971" cy="0"/>
          </a:xfrm>
          <a:prstGeom prst="line">
            <a:avLst/>
          </a:prstGeom>
          <a:noFill/>
          <a:ln w="9525">
            <a:solidFill>
              <a:srgbClr val="232D42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205862" y="3813048"/>
            <a:ext cx="1779971" cy="23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6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async I/O for concurrent calls to NVIDIA/Key Gateway, Pydantic request/response validation, and auto-generated OpenAPI docs - with none of Django's unused batteries.</a:t>
            </a:r>
            <a:endParaRPr lang="en-US" sz="860" dirty="0"/>
          </a:p>
        </p:txBody>
      </p:sp>
      <p:sp>
        <p:nvSpPr>
          <p:cNvPr id="26" name="Shape 21"/>
          <p:cNvSpPr/>
          <p:nvPr/>
        </p:nvSpPr>
        <p:spPr>
          <a:xfrm>
            <a:off x="7315017" y="1481328"/>
            <a:ext cx="2072579" cy="4873752"/>
          </a:xfrm>
          <a:prstGeom prst="roundRect">
            <a:avLst>
              <a:gd name="adj" fmla="val 4412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7461321" y="1645920"/>
            <a:ext cx="177997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70" b="1" spc="14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870" dirty="0"/>
          </a:p>
        </p:txBody>
      </p:sp>
      <p:pic>
        <p:nvPicPr>
          <p:cNvPr id="28" name="Image 3" descr="/home/claude/build/assets/icon_database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321" y="201168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461321" y="2450592"/>
            <a:ext cx="177997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3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7461321" y="3127248"/>
            <a:ext cx="177997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FAISS, Pinecone</a:t>
            </a:r>
            <a:endParaRPr lang="en-US" sz="820" dirty="0"/>
          </a:p>
        </p:txBody>
      </p:sp>
      <p:sp>
        <p:nvSpPr>
          <p:cNvPr id="31" name="Shape 25"/>
          <p:cNvSpPr/>
          <p:nvPr/>
        </p:nvSpPr>
        <p:spPr>
          <a:xfrm>
            <a:off x="7461321" y="3694176"/>
            <a:ext cx="1779971" cy="0"/>
          </a:xfrm>
          <a:prstGeom prst="line">
            <a:avLst/>
          </a:prstGeom>
          <a:noFill/>
          <a:ln w="9525">
            <a:solidFill>
              <a:srgbClr val="232D42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461321" y="3813048"/>
            <a:ext cx="1779971" cy="23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6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Persistent, local, purpose-built ANN index - real vector search without managed-service cost or deployment complexity at this project's scale. Metadata stays joined in SQLite.</a:t>
            </a:r>
            <a:endParaRPr lang="en-US" sz="860" dirty="0"/>
          </a:p>
        </p:txBody>
      </p:sp>
      <p:sp>
        <p:nvSpPr>
          <p:cNvPr id="33" name="Shape 27"/>
          <p:cNvSpPr/>
          <p:nvPr/>
        </p:nvSpPr>
        <p:spPr>
          <a:xfrm>
            <a:off x="9570476" y="1481328"/>
            <a:ext cx="2072579" cy="4873752"/>
          </a:xfrm>
          <a:prstGeom prst="roundRect">
            <a:avLst>
              <a:gd name="adj" fmla="val 4412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9716780" y="1645920"/>
            <a:ext cx="177997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70" b="1" spc="14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870" dirty="0"/>
          </a:p>
        </p:txBody>
      </p:sp>
      <p:pic>
        <p:nvPicPr>
          <p:cNvPr id="35" name="Image 4" descr="/home/claude/build/assets/icon_checkcircle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6780" y="2011680"/>
            <a:ext cx="365760" cy="36576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716780" y="2450592"/>
            <a:ext cx="177997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3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nv-rerankqa-mistral-4b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9716780" y="3127248"/>
            <a:ext cx="177997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2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no second-stage rerank</a:t>
            </a:r>
            <a:endParaRPr lang="en-US" sz="820" dirty="0"/>
          </a:p>
        </p:txBody>
      </p:sp>
      <p:sp>
        <p:nvSpPr>
          <p:cNvPr id="38" name="Shape 31"/>
          <p:cNvSpPr/>
          <p:nvPr/>
        </p:nvSpPr>
        <p:spPr>
          <a:xfrm>
            <a:off x="9716780" y="3694176"/>
            <a:ext cx="1779971" cy="0"/>
          </a:xfrm>
          <a:prstGeom prst="line">
            <a:avLst/>
          </a:prstGeom>
          <a:noFill/>
          <a:ln w="9525">
            <a:solidFill>
              <a:srgbClr val="232D42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9716780" y="3813048"/>
            <a:ext cx="1779971" cy="2359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6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cross-encoder scores each candidate against the actual query after RRF fusion - meaningfully more precise ordering, traded for one extra API call of latency.</a:t>
            </a:r>
            <a:endParaRPr lang="en-US" sz="860" dirty="0"/>
          </a:p>
        </p:txBody>
      </p:sp>
      <p:sp>
        <p:nvSpPr>
          <p:cNvPr id="40" name="Text 33"/>
          <p:cNvSpPr/>
          <p:nvPr/>
        </p:nvSpPr>
        <p:spPr>
          <a:xfrm>
            <a:off x="10820095" y="64739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6096" dur="indefinite" restart="never" nodeType="tmRoot">
          <p:childTnLst>
            <p:seq concat="0" nextAc="seek">
              <p:cTn id="6097" dur="indefinite" nodeType="mainSeq">
                <p:childTnLst>
                  <p:par>
                    <p:cTn id="6001" nodeType="clickEffect">
                      <p:stCondLst>
                        <p:cond delay="0"/>
                      </p:stCondLst>
                      <p:childTnLst>
                        <p:par>
                          <p:cTn id="600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04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0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07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0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10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1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13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1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16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1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19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20" nodeType="afterEffect">
                      <p:stCondLst>
                        <p:cond delay="150"/>
                      </p:stCondLst>
                      <p:childTnLst>
                        <p:par>
                          <p:cTn id="602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23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2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26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2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29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3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32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3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35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38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39" nodeType="afterEffect">
                      <p:stCondLst>
                        <p:cond delay="150"/>
                      </p:stCondLst>
                      <p:childTnLst>
                        <p:par>
                          <p:cTn id="60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42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4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45" dur="45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4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48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4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51" dur="45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5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54" dur="45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57" dur="45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58" nodeType="afterEffect">
                      <p:stCondLst>
                        <p:cond delay="150"/>
                      </p:stCondLst>
                      <p:childTnLst>
                        <p:par>
                          <p:cTn id="605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61" dur="45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6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64" dur="45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67" dur="45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6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70" dur="45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7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73" dur="45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7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76" dur="45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77" nodeType="afterEffect">
                      <p:stCondLst>
                        <p:cond delay="150"/>
                      </p:stCondLst>
                      <p:childTnLst>
                        <p:par>
                          <p:cTn id="607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80" dur="45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8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83" dur="45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8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86" dur="45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8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8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89" dur="45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9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92" dur="45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9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95" dur="45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MATURITY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A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Trade-offs - What We Chose and Why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76656" y="12801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877056" y="12801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991856" y="1280160"/>
            <a:ext cx="35963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/ COST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11094415" cy="621792"/>
          </a:xfrm>
          <a:prstGeom prst="roundRect">
            <a:avLst>
              <a:gd name="adj" fmla="val 11765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1719072"/>
            <a:ext cx="0" cy="438912"/>
          </a:xfrm>
          <a:prstGeom prst="line">
            <a:avLst/>
          </a:prstGeom>
          <a:noFill/>
          <a:ln w="9525">
            <a:solidFill>
              <a:srgbClr val="232D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0" y="1719072"/>
            <a:ext cx="0" cy="438912"/>
          </a:xfrm>
          <a:prstGeom prst="line">
            <a:avLst/>
          </a:prstGeom>
          <a:noFill/>
          <a:ln w="9525">
            <a:solidFill>
              <a:srgbClr val="232D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627632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 (800c / 120 overlap)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95344" y="1627632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context per chunk without diluting retrieval precision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8010144" y="1627632"/>
            <a:ext cx="350489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sections still need a sliding window - some boundary loss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548640" y="2331720"/>
            <a:ext cx="11094415" cy="621792"/>
          </a:xfrm>
          <a:prstGeom prst="roundRect">
            <a:avLst>
              <a:gd name="adj" fmla="val 11765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2423160"/>
            <a:ext cx="0" cy="438912"/>
          </a:xfrm>
          <a:prstGeom prst="line">
            <a:avLst/>
          </a:prstGeom>
          <a:noFill/>
          <a:ln w="9525">
            <a:solidFill>
              <a:srgbClr val="232D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0" y="2423160"/>
            <a:ext cx="0" cy="438912"/>
          </a:xfrm>
          <a:prstGeom prst="line">
            <a:avLst/>
          </a:prstGeom>
          <a:noFill/>
          <a:ln w="9525">
            <a:solidFill>
              <a:srgbClr val="232D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2331720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Depth (top-8 → top-4)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95344" y="233172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candidate pool (8) protects recall before reranking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8010144" y="2331720"/>
            <a:ext cx="350489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 candidate costs BM25 + vector + rerank compute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548640" y="3035808"/>
            <a:ext cx="11094415" cy="621792"/>
          </a:xfrm>
          <a:prstGeom prst="roundRect">
            <a:avLst>
              <a:gd name="adj" fmla="val 11765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3127248"/>
            <a:ext cx="0" cy="438912"/>
          </a:xfrm>
          <a:prstGeom prst="line">
            <a:avLst/>
          </a:prstGeom>
          <a:noFill/>
          <a:ln w="9525">
            <a:solidFill>
              <a:srgbClr val="232D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0" y="3127248"/>
            <a:ext cx="0" cy="438912"/>
          </a:xfrm>
          <a:prstGeom prst="line">
            <a:avLst/>
          </a:prstGeom>
          <a:noFill/>
          <a:ln w="9525">
            <a:solidFill>
              <a:srgbClr val="232D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3035808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Second-Stage Reranking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95344" y="3035808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meaningfully improves relevance on hard queries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8010144" y="3035808"/>
            <a:ext cx="350489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additional NVIDIA API call adds latency and cost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548640" y="3739896"/>
            <a:ext cx="11094415" cy="621792"/>
          </a:xfrm>
          <a:prstGeom prst="roundRect">
            <a:avLst>
              <a:gd name="adj" fmla="val 11765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3831336"/>
            <a:ext cx="0" cy="438912"/>
          </a:xfrm>
          <a:prstGeom prst="line">
            <a:avLst/>
          </a:prstGeom>
          <a:noFill/>
          <a:ln w="9525">
            <a:solidFill>
              <a:srgbClr val="232D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0" y="3831336"/>
            <a:ext cx="0" cy="438912"/>
          </a:xfrm>
          <a:prstGeom prst="line">
            <a:avLst/>
          </a:prstGeom>
          <a:noFill/>
          <a:ln w="9525">
            <a:solidFill>
              <a:srgbClr val="232D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" y="3739896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vs. LLM-Only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895344" y="3739896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grounded in real company documents, not memory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8010144" y="3739896"/>
            <a:ext cx="350489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moving parts than a single prompt-to-LLM call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548640" y="4443984"/>
            <a:ext cx="11094415" cy="621792"/>
          </a:xfrm>
          <a:prstGeom prst="roundRect">
            <a:avLst>
              <a:gd name="adj" fmla="val 11765"/>
            </a:avLst>
          </a:prstGeom>
          <a:solidFill>
            <a:srgbClr val="141A26"/>
          </a:solidFill>
          <a:ln w="12700">
            <a:solidFill>
              <a:srgbClr val="232D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0" y="4535424"/>
            <a:ext cx="0" cy="438912"/>
          </a:xfrm>
          <a:prstGeom prst="line">
            <a:avLst/>
          </a:prstGeom>
          <a:noFill/>
          <a:ln w="9525">
            <a:solidFill>
              <a:srgbClr val="232D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3840" y="4535424"/>
            <a:ext cx="0" cy="438912"/>
          </a:xfrm>
          <a:prstGeom prst="line">
            <a:avLst/>
          </a:prstGeom>
          <a:noFill/>
          <a:ln w="9525">
            <a:solidFill>
              <a:srgbClr val="232D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" y="4443984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Fallback vs. API-Only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895344" y="4443984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pipeline is demoable and testable with zero API keys</a:t>
            </a:r>
            <a:endParaRPr lang="en-US" sz="930" dirty="0"/>
          </a:p>
        </p:txBody>
      </p:sp>
      <p:sp>
        <p:nvSpPr>
          <p:cNvPr id="36" name="Text 34"/>
          <p:cNvSpPr/>
          <p:nvPr/>
        </p:nvSpPr>
        <p:spPr>
          <a:xfrm>
            <a:off x="8010144" y="4443984"/>
            <a:ext cx="350489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3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quality (hash embeddings, lexical rerank) is intentionally weaker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548640" y="5276088"/>
            <a:ext cx="11094415" cy="896112"/>
          </a:xfrm>
          <a:prstGeom prst="roundRect">
            <a:avLst>
              <a:gd name="adj" fmla="val 10204"/>
            </a:avLst>
          </a:prstGeom>
          <a:solidFill>
            <a:srgbClr val="2A235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5394960"/>
            <a:ext cx="1054577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ENGINEERING PRINCIPLE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22960" y="5641848"/>
            <a:ext cx="1054577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EA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 not choose technologies because they were popular - we chose them based on the project's requirements, retrieval quality, performance, maintainability, and implementation complexity.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0820095" y="64739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6106" dur="indefinite" restart="never" nodeType="tmRoot">
          <p:childTnLst>
            <p:seq concat="0" nextAc="seek">
              <p:cTn id="6107" dur="indefinite" nodeType="mainSeq">
                <p:childTnLst>
                  <p:par>
                    <p:cTn id="6001" nodeType="clickEffect">
                      <p:stCondLst>
                        <p:cond delay="0"/>
                      </p:stCondLst>
                      <p:childTnLst>
                        <p:par>
                          <p:cTn id="600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04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0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07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0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10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1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13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1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16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1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19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20" nodeType="afterEffect">
                      <p:stCondLst>
                        <p:cond delay="150"/>
                      </p:stCondLst>
                      <p:childTnLst>
                        <p:par>
                          <p:cTn id="602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23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2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26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2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29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3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32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3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35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38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39" nodeType="afterEffect">
                      <p:stCondLst>
                        <p:cond delay="150"/>
                      </p:stCondLst>
                      <p:childTnLst>
                        <p:par>
                          <p:cTn id="60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42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4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45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4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48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4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51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5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54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57" dur="4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58" nodeType="afterEffect">
                      <p:stCondLst>
                        <p:cond delay="150"/>
                      </p:stCondLst>
                      <p:childTnLst>
                        <p:par>
                          <p:cTn id="605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61" dur="4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6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64" dur="4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67" dur="4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6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70" dur="4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7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73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7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76" dur="4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77" nodeType="afterEffect">
                      <p:stCondLst>
                        <p:cond delay="150"/>
                      </p:stCondLst>
                      <p:childTnLst>
                        <p:par>
                          <p:cTn id="607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80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8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83" dur="4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8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86" dur="4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8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8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89" dur="4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9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9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92" dur="4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9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95" dur="4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96" nodeType="afterEffect">
                      <p:stCondLst>
                        <p:cond delay="200"/>
                      </p:stCondLst>
                      <p:childTnLst>
                        <p:par>
                          <p:cTn id="609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99" dur="45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0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02" dur="45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0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05" dur="45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548640"/>
            <a:ext cx="1097280" cy="36576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914400"/>
            <a:ext cx="365760" cy="128016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03120" y="548640"/>
            <a:ext cx="822960" cy="109728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94560"/>
            <a:ext cx="1097280" cy="45720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1645920"/>
            <a:ext cx="1188720" cy="100584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914400"/>
            <a:ext cx="731520" cy="173736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0" y="5120640"/>
            <a:ext cx="1097280" cy="64008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0" y="5120640"/>
            <a:ext cx="548640" cy="100584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0" y="4480560"/>
            <a:ext cx="731520" cy="64008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5212080"/>
            <a:ext cx="365760" cy="54864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89920" y="4480560"/>
            <a:ext cx="731520" cy="73152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5669280"/>
            <a:ext cx="1005840" cy="45720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846320"/>
            <a:ext cx="182880" cy="82296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846320"/>
            <a:ext cx="822960" cy="128016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149840" y="640080"/>
            <a:ext cx="822960" cy="36576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0" y="1005840"/>
            <a:ext cx="640080" cy="64008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49840" y="640080"/>
            <a:ext cx="1463040" cy="1005840"/>
          </a:xfrm>
          <a:prstGeom prst="line">
            <a:avLst/>
          </a:prstGeom>
          <a:noFill/>
          <a:ln w="9525">
            <a:solidFill>
              <a:srgbClr val="2E3A52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3836" y="882396"/>
            <a:ext cx="64008" cy="64008"/>
          </a:xfrm>
          <a:prstGeom prst="ellipse">
            <a:avLst/>
          </a:prstGeom>
          <a:solidFill>
            <a:srgbClr val="6EE7F9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71116" y="516636"/>
            <a:ext cx="64008" cy="64008"/>
          </a:xfrm>
          <a:prstGeom prst="ellipse">
            <a:avLst/>
          </a:prstGeom>
          <a:solidFill>
            <a:srgbClr val="6EE7F9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08076" y="2162556"/>
            <a:ext cx="64008" cy="64008"/>
          </a:xfrm>
          <a:prstGeom prst="ellipse">
            <a:avLst/>
          </a:prstGeom>
          <a:solidFill>
            <a:srgbClr val="6EE7F9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05356" y="2619756"/>
            <a:ext cx="64008" cy="64008"/>
          </a:xfrm>
          <a:prstGeom prst="ellipse">
            <a:avLst/>
          </a:prstGeom>
          <a:solidFill>
            <a:srgbClr val="6EE7F9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894076" y="1613916"/>
            <a:ext cx="64008" cy="64008"/>
          </a:xfrm>
          <a:prstGeom prst="ellipse">
            <a:avLst/>
          </a:prstGeom>
          <a:solidFill>
            <a:srgbClr val="6EE7F9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026396" y="5088636"/>
            <a:ext cx="64008" cy="64008"/>
          </a:xfrm>
          <a:prstGeom prst="ellipse">
            <a:avLst/>
          </a:prstGeom>
          <a:solidFill>
            <a:srgbClr val="6EE7F9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123676" y="5728716"/>
            <a:ext cx="64008" cy="64008"/>
          </a:xfrm>
          <a:prstGeom prst="ellipse">
            <a:avLst/>
          </a:prstGeom>
          <a:solidFill>
            <a:srgbClr val="6EE7F9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477756" y="6094476"/>
            <a:ext cx="64008" cy="64008"/>
          </a:xfrm>
          <a:prstGeom prst="ellipse">
            <a:avLst/>
          </a:prstGeom>
          <a:solidFill>
            <a:srgbClr val="6EE7F9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757916" y="4448556"/>
            <a:ext cx="64008" cy="64008"/>
          </a:xfrm>
          <a:prstGeom prst="ellipse">
            <a:avLst/>
          </a:prstGeom>
          <a:solidFill>
            <a:srgbClr val="6EE7F9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1489436" y="5180076"/>
            <a:ext cx="64008" cy="64008"/>
          </a:xfrm>
          <a:prstGeom prst="ellipse">
            <a:avLst/>
          </a:prstGeom>
          <a:solidFill>
            <a:srgbClr val="6EE7F9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90956" y="5637276"/>
            <a:ext cx="64008" cy="64008"/>
          </a:xfrm>
          <a:prstGeom prst="ellipse">
            <a:avLst/>
          </a:prstGeom>
          <a:solidFill>
            <a:srgbClr val="6EE7F9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796796" y="6094476"/>
            <a:ext cx="64008" cy="64008"/>
          </a:xfrm>
          <a:prstGeom prst="ellipse">
            <a:avLst/>
          </a:prstGeom>
          <a:solidFill>
            <a:srgbClr val="6EE7F9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73836" y="4814316"/>
            <a:ext cx="64008" cy="64008"/>
          </a:xfrm>
          <a:prstGeom prst="ellipse">
            <a:avLst/>
          </a:prstGeom>
          <a:solidFill>
            <a:srgbClr val="6EE7F9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940796" y="973836"/>
            <a:ext cx="64008" cy="64008"/>
          </a:xfrm>
          <a:prstGeom prst="ellipse">
            <a:avLst/>
          </a:prstGeom>
          <a:solidFill>
            <a:srgbClr val="6EE7F9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0117836" y="608076"/>
            <a:ext cx="64008" cy="64008"/>
          </a:xfrm>
          <a:prstGeom prst="ellipse">
            <a:avLst/>
          </a:prstGeom>
          <a:solidFill>
            <a:srgbClr val="6EE7F9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1580876" y="1613916"/>
            <a:ext cx="64008" cy="64008"/>
          </a:xfrm>
          <a:prstGeom prst="ellipse">
            <a:avLst/>
          </a:prstGeom>
          <a:solidFill>
            <a:srgbClr val="6EE7F9">
              <a:alpha val="6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0" y="2331720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6E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ASSISTANT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0" y="265176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EA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37" name="Text 35"/>
          <p:cNvSpPr/>
          <p:nvPr/>
        </p:nvSpPr>
        <p:spPr>
          <a:xfrm>
            <a:off x="0" y="39776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RAG  ·  Hybrid Retrieval  ·  Reranking  ·  Grounded Generation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7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backend/app/ - The Real Project Structure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7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folder below exists in the shipped codebase. Click through to reveal the tree, then each component's role in the pipeline.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074920" cy="4480560"/>
          </a:xfrm>
          <a:prstGeom prst="roundRect">
            <a:avLst>
              <a:gd name="adj" fmla="val 918"/>
            </a:avLst>
          </a:prstGeom>
          <a:solidFill>
            <a:srgbClr val="0D1220"/>
          </a:solidFill>
          <a:ln w="12700">
            <a:solidFill>
              <a:srgbClr val="232C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00200"/>
            <a:ext cx="5074920" cy="457200"/>
          </a:xfrm>
          <a:prstGeom prst="roundRect">
            <a:avLst>
              <a:gd name="adj" fmla="val 18000"/>
            </a:avLst>
          </a:prstGeom>
          <a:solidFill>
            <a:srgbClr val="131A2C"/>
          </a:solidFill>
          <a:ln w="12700">
            <a:solidFill>
              <a:srgbClr val="232C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728216"/>
            <a:ext cx="201168" cy="201168"/>
          </a:xfrm>
          <a:prstGeom prst="roundRect">
            <a:avLst/>
          </a:prstGeom>
          <a:solidFill>
            <a:srgbClr val="FACC1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0020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backend/app/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221992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2D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rag/
</a:t>
            </a:r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879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chunking.py · embeddings.py
</a:t>
            </a:r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879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retriever.py · context_builder.py
</a:t>
            </a:r>
            <a:pPr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2DD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llm/
</a:t>
            </a:r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879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gateway_client.py · nvidia_client.py
</a:t>
            </a:r>
            <a:pPr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api/routes/
</a:t>
            </a:r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879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chat.py · documents.py · admin.py
</a:t>
            </a:r>
            <a:pPr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services/
</a:t>
            </a:r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879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chat_service.py · document_service.py
</a:t>
            </a:r>
            <a:pPr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repositories/
</a:t>
            </a:r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879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document_repo.py · conversation_repo.py
</a:t>
            </a:r>
            <a:pPr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models/
</a:t>
            </a:r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879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document.py · conversation.py · user.py
</a:t>
            </a:r>
            <a:pPr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5E6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core/
</a:t>
            </a:r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879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config.py · security.py
</a:t>
            </a:r>
            <a:pPr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5E6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db/
</a:t>
            </a:r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879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database.py
</a:t>
            </a:r>
            <a:pPr indent="0" marL="0">
              <a:lnSpc>
                <a:spcPct val="132000"/>
              </a:lnSpc>
              <a:buNone/>
            </a:pPr>
            <a:r>
              <a:rPr lang="en-US" sz="1100" b="1" dirty="0">
                <a:solidFill>
                  <a:srgbClr val="F4F6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main.py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06440" y="1600200"/>
            <a:ext cx="5897880" cy="4480560"/>
          </a:xfrm>
          <a:prstGeom prst="roundRect">
            <a:avLst>
              <a:gd name="adj" fmla="val 918"/>
            </a:avLst>
          </a:prstGeom>
          <a:solidFill>
            <a:srgbClr val="0D1220"/>
          </a:solidFill>
          <a:ln w="12700">
            <a:solidFill>
              <a:srgbClr val="232C4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62472" y="1746504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87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THE RAG PIPELINE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62472" y="216712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2DD4EE"/>
          </a:solidFill>
          <a:ln/>
        </p:spPr>
      </p:sp>
      <p:sp>
        <p:nvSpPr>
          <p:cNvPr id="13" name="Text 11"/>
          <p:cNvSpPr/>
          <p:nvPr/>
        </p:nvSpPr>
        <p:spPr>
          <a:xfrm>
            <a:off x="6336792" y="2084832"/>
            <a:ext cx="512064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D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rag/   </a:t>
            </a:r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87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Chunking, embeddings, hybrid BM25+vector retrieval, RRF fusion &amp; context building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62472" y="26014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2DD4EE"/>
          </a:solidFill>
          <a:ln/>
        </p:spPr>
      </p:sp>
      <p:sp>
        <p:nvSpPr>
          <p:cNvPr id="15" name="Text 13"/>
          <p:cNvSpPr/>
          <p:nvPr/>
        </p:nvSpPr>
        <p:spPr>
          <a:xfrm>
            <a:off x="6336792" y="2519172"/>
            <a:ext cx="512064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D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llm/   </a:t>
            </a:r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87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 client (embed + rerank) and Key Gateway client (chat generation)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62472" y="303580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472B6"/>
          </a:solidFill>
          <a:ln/>
        </p:spPr>
      </p:sp>
      <p:sp>
        <p:nvSpPr>
          <p:cNvPr id="17" name="Text 15"/>
          <p:cNvSpPr/>
          <p:nvPr/>
        </p:nvSpPr>
        <p:spPr>
          <a:xfrm>
            <a:off x="6336792" y="2953512"/>
            <a:ext cx="512064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api/routes/   </a:t>
            </a:r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87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endpoints - chat, documents, admin, auth, conversations, feedback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62472" y="347014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472B6"/>
          </a:solidFill>
          <a:ln/>
        </p:spPr>
      </p:sp>
      <p:sp>
        <p:nvSpPr>
          <p:cNvPr id="19" name="Text 17"/>
          <p:cNvSpPr/>
          <p:nvPr/>
        </p:nvSpPr>
        <p:spPr>
          <a:xfrm>
            <a:off x="6336792" y="3387852"/>
            <a:ext cx="512064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   </a:t>
            </a:r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87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only - chat_service &amp; document_service, no direct I/O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62472" y="390448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ACC15"/>
          </a:solidFill>
          <a:ln/>
        </p:spPr>
      </p:sp>
      <p:sp>
        <p:nvSpPr>
          <p:cNvPr id="21" name="Text 19"/>
          <p:cNvSpPr/>
          <p:nvPr/>
        </p:nvSpPr>
        <p:spPr>
          <a:xfrm>
            <a:off x="6336792" y="3822192"/>
            <a:ext cx="512064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repositories/   </a:t>
            </a:r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87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 access - documents, chunks, conversations, users, audit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62472" y="433882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ACC15"/>
          </a:solidFill>
          <a:ln/>
        </p:spPr>
      </p:sp>
      <p:sp>
        <p:nvSpPr>
          <p:cNvPr id="23" name="Text 21"/>
          <p:cNvSpPr/>
          <p:nvPr/>
        </p:nvSpPr>
        <p:spPr>
          <a:xfrm>
            <a:off x="6336792" y="4256532"/>
            <a:ext cx="512064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   </a:t>
            </a:r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87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 - Document, Chunk, Conversation, User, Audit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62472" y="477316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5E6A85"/>
          </a:solidFill>
          <a:ln/>
        </p:spPr>
      </p:sp>
      <p:sp>
        <p:nvSpPr>
          <p:cNvPr id="25" name="Text 23"/>
          <p:cNvSpPr/>
          <p:nvPr/>
        </p:nvSpPr>
        <p:spPr>
          <a:xfrm>
            <a:off x="6336792" y="4690872"/>
            <a:ext cx="512064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   </a:t>
            </a:r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87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config.py (Settings) and security.py (JWT + bcrypt hashing)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62472" y="520750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5E6A85"/>
          </a:solidFill>
          <a:ln/>
        </p:spPr>
      </p:sp>
      <p:sp>
        <p:nvSpPr>
          <p:cNvPr id="27" name="Text 25"/>
          <p:cNvSpPr/>
          <p:nvPr/>
        </p:nvSpPr>
        <p:spPr>
          <a:xfrm>
            <a:off x="6336792" y="5125212"/>
            <a:ext cx="512064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   </a:t>
            </a:r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87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database.py - SQLAlchemy engine &amp; session factory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62472" y="564184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4F6FB"/>
          </a:solidFill>
          <a:ln/>
        </p:spPr>
      </p:sp>
      <p:sp>
        <p:nvSpPr>
          <p:cNvPr id="29" name="Text 27"/>
          <p:cNvSpPr/>
          <p:nvPr/>
        </p:nvSpPr>
        <p:spPr>
          <a:xfrm>
            <a:off x="6336792" y="5559552"/>
            <a:ext cx="512064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  </a:t>
            </a:r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87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app entrypoint - registers every router, CORS, lifespan init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47572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ASSISTANT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5068" dur="indefinite" restart="never" nodeType="tmRoot">
          <p:childTnLst>
            <p:seq concurrent="1" nextAc="seek">
              <p:cTn id="5069" dur="indefinite" nodeType="mainSeq">
                <p:childTnLst>
                  <p:par>
                    <p:cTn id="5004" fill="hold">
                      <p:stCondLst>
                        <p:cond delay="indefinite"/>
                      </p:stCondLst>
                      <p:childTnLst>
                        <p:par>
                          <p:cTn id="500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02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11" fill="hold">
                      <p:stCondLst>
                        <p:cond delay="indefinite"/>
                      </p:stCondLst>
                      <p:childTnLst>
                        <p:par>
                          <p:cTn id="5007" presetID="10" presetClass="entr" presetSubtype="0" fill="hold" grpId="1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06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10" presetID="10" presetClass="entr" presetSubtype="0" fill="hold" grpId="1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0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09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18" fill="hold">
                      <p:stCondLst>
                        <p:cond delay="indefinite"/>
                      </p:stCondLst>
                      <p:childTnLst>
                        <p:par>
                          <p:cTn id="5014" presetID="10" presetClass="entr" presetSubtype="0" fill="hold" grpId="2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13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17" presetID="10" presetClass="entr" presetSubtype="0" fill="hold" grpId="2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16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25" fill="hold">
                      <p:stCondLst>
                        <p:cond delay="indefinite"/>
                      </p:stCondLst>
                      <p:childTnLst>
                        <p:par>
                          <p:cTn id="5021" presetID="10" presetClass="entr" presetSubtype="0" fill="hold" grpId="3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20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24" presetID="10" presetClass="entr" presetSubtype="0" fill="hold" grpId="3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23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32" fill="hold">
                      <p:stCondLst>
                        <p:cond delay="indefinite"/>
                      </p:stCondLst>
                      <p:childTnLst>
                        <p:par>
                          <p:cTn id="5028" presetID="10" presetClass="entr" presetSubtype="0" fill="hold" grpId="4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27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31" presetID="10" presetClass="entr" presetSubtype="0" fill="hold" grpId="4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30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39" fill="hold">
                      <p:stCondLst>
                        <p:cond delay="indefinite"/>
                      </p:stCondLst>
                      <p:childTnLst>
                        <p:par>
                          <p:cTn id="5035" presetID="10" presetClass="entr" presetSubtype="0" fill="hold" grpId="5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34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38" presetID="10" presetClass="entr" presetSubtype="0" fill="hold" grpId="5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37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46" fill="hold">
                      <p:stCondLst>
                        <p:cond delay="indefinite"/>
                      </p:stCondLst>
                      <p:childTnLst>
                        <p:par>
                          <p:cTn id="5042" presetID="10" presetClass="entr" presetSubtype="0" fill="hold" grpId="6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41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45" presetID="10" presetClass="entr" presetSubtype="0" fill="hold" grpId="6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44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53" fill="hold">
                      <p:stCondLst>
                        <p:cond delay="indefinite"/>
                      </p:stCondLst>
                      <p:childTnLst>
                        <p:par>
                          <p:cTn id="5049" presetID="10" presetClass="entr" presetSubtype="0" fill="hold" grpId="7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48" dur="4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52" presetID="10" presetClass="entr" presetSubtype="0" fill="hold" grpId="7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51" dur="4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60" fill="hold">
                      <p:stCondLst>
                        <p:cond delay="indefinite"/>
                      </p:stCondLst>
                      <p:childTnLst>
                        <p:par>
                          <p:cTn id="5056" presetID="10" presetClass="entr" presetSubtype="0" fill="hold" grpId="8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55" dur="4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59" presetID="10" presetClass="entr" presetSubtype="0" fill="hold" grpId="8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58" dur="4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67" fill="hold">
                      <p:stCondLst>
                        <p:cond delay="indefinite"/>
                      </p:stCondLst>
                      <p:childTnLst>
                        <p:par>
                          <p:cTn id="5063" presetID="10" presetClass="entr" presetSubtype="0" fill="hold" grpId="9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62" dur="4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66" presetID="10" presetClass="entr" presetSubtype="0" fill="hold" grpId="9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65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1"/>
      <p:bldP spid="13" grpId="1"/>
      <p:bldP spid="14" grpId="2"/>
      <p:bldP spid="15" grpId="2"/>
      <p:bldP spid="16" grpId="3"/>
      <p:bldP spid="17" grpId="3"/>
      <p:bldP spid="18" grpId="4"/>
      <p:bldP spid="19" grpId="4"/>
      <p:bldP spid="20" grpId="5"/>
      <p:bldP spid="21" grpId="5"/>
      <p:bldP spid="22" grpId="6"/>
      <p:bldP spid="23" grpId="6"/>
      <p:bldP spid="24" grpId="7"/>
      <p:bldP spid="25" grpId="7"/>
      <p:bldP spid="26" grpId="8"/>
      <p:bldP spid="27" grpId="8"/>
      <p:bldP spid="28" grpId="9"/>
      <p:bldP spid="29" grpId="9"/>
    </p:bldLst>
  </p:timing>
  <p:timing>
    <p:tnLst>
      <p:par>
        <p:cTn id="6087" dur="indefinite" restart="never" nodeType="tmRoot">
          <p:childTnLst>
            <p:seq concat="0" nextAc="seek">
              <p:cTn id="6088" dur="indefinite" nodeType="mainSeq">
                <p:childTnLst>
                  <p:par>
                    <p:cTn id="6001" nodeType="clickEffect">
                      <p:stCondLst>
                        <p:cond delay="0"/>
                      </p:stCondLst>
                      <p:childTnLst>
                        <p:par>
                          <p:cTn id="600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0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04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0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07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0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10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1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13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1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16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17" nodeType="afterEffect">
                      <p:stCondLst>
                        <p:cond delay="150"/>
                      </p:stCondLst>
                      <p:childTnLst>
                        <p:par>
                          <p:cTn id="601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20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2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23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24" nodeType="afterEffect">
                      <p:stCondLst>
                        <p:cond delay="100"/>
                      </p:stCondLst>
                      <p:childTnLst>
                        <p:par>
                          <p:cTn id="60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27" dur="3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30" dur="3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31" nodeType="afterEffect">
                      <p:stCondLst>
                        <p:cond delay="90"/>
                      </p:stCondLst>
                      <p:childTnLst>
                        <p:par>
                          <p:cTn id="603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34" dur="3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37" dur="3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38" nodeType="afterEffect">
                      <p:stCondLst>
                        <p:cond delay="90"/>
                      </p:stCondLst>
                      <p:childTnLst>
                        <p:par>
                          <p:cTn id="603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41" dur="3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4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44" dur="3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45" nodeType="afterEffect">
                      <p:stCondLst>
                        <p:cond delay="90"/>
                      </p:stCondLst>
                      <p:childTnLst>
                        <p:par>
                          <p:cTn id="604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48" dur="3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49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51" dur="3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52" nodeType="afterEffect">
                      <p:stCondLst>
                        <p:cond delay="90"/>
                      </p:stCondLst>
                      <p:childTnLst>
                        <p:par>
                          <p:cTn id="605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55" dur="35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5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58" dur="3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59" nodeType="afterEffect">
                      <p:stCondLst>
                        <p:cond delay="90"/>
                      </p:stCondLst>
                      <p:childTnLst>
                        <p:par>
                          <p:cTn id="606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62" dur="3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6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65" dur="35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66" nodeType="afterEffect">
                      <p:stCondLst>
                        <p:cond delay="90"/>
                      </p:stCondLst>
                      <p:childTnLst>
                        <p:par>
                          <p:cTn id="606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69" dur="35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7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72" dur="35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73" nodeType="afterEffect">
                      <p:stCondLst>
                        <p:cond delay="90"/>
                      </p:stCondLst>
                      <p:childTnLst>
                        <p:par>
                          <p:cTn id="607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76" dur="35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7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79" dur="35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080" nodeType="afterEffect">
                      <p:stCondLst>
                        <p:cond delay="90"/>
                      </p:stCondLst>
                      <p:childTnLst>
                        <p:par>
                          <p:cTn id="6081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83" dur="35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08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86" dur="35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2026-08-15T14:35:15Z</dcterms:created>
  <dcterms:modified xsi:type="dcterms:W3CDTF">2026-08-15T14:35:15Z</dcterms:modified>
</cp:coreProperties>
</file>